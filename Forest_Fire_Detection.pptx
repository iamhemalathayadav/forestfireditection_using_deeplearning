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8" r:id="rId8"/>
    <p:sldId id="263" r:id="rId9"/>
    <p:sldId id="266" r:id="rId10"/>
    <p:sldId id="267" r:id="rId11"/>
    <p:sldId id="265" r:id="rId12"/>
    <p:sldId id="269" r:id="rId13"/>
    <p:sldId id="262"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84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82" d="100"/>
          <a:sy n="82" d="100"/>
        </p:scale>
        <p:origin x="874"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IAmHemalathaYadav/ForestFireDitection_Using_DeepLearning/blob/main/Forest_Fire_Detection_using_DL%20(2).ipynb"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67419" y="868863"/>
            <a:ext cx="1263157" cy="410834"/>
          </a:xfrm>
          <a:prstGeom prst="rect">
            <a:avLst/>
          </a:prstGeom>
        </p:spPr>
      </p:pic>
      <p:sp>
        <p:nvSpPr>
          <p:cNvPr id="3" name="TextBox 2">
            <a:extLst>
              <a:ext uri="{FF2B5EF4-FFF2-40B4-BE49-F238E27FC236}">
                <a16:creationId xmlns:a16="http://schemas.microsoft.com/office/drawing/2014/main" id="{3500D4B4-C676-A020-6582-BD88C805F3E8}"/>
              </a:ext>
            </a:extLst>
          </p:cNvPr>
          <p:cNvSpPr txBox="1"/>
          <p:nvPr/>
        </p:nvSpPr>
        <p:spPr>
          <a:xfrm>
            <a:off x="5075852" y="5045909"/>
            <a:ext cx="6130213" cy="666977"/>
          </a:xfrm>
          <a:prstGeom prst="rect">
            <a:avLst/>
          </a:prstGeom>
          <a:noFill/>
        </p:spPr>
        <p:txBody>
          <a:bodyPr wrap="square" rtlCol="0">
            <a:spAutoFit/>
          </a:bodyPr>
          <a:lstStyle/>
          <a:p>
            <a:r>
              <a:rPr lang="en-IN" b="1" dirty="0">
                <a:solidFill>
                  <a:schemeClr val="bg1"/>
                </a:solidFill>
              </a:rPr>
              <a:t>Name: MARTHI HEMALATHA YADAV</a:t>
            </a:r>
          </a:p>
          <a:p>
            <a:r>
              <a:rPr lang="en-IN" b="1" dirty="0">
                <a:solidFill>
                  <a:schemeClr val="bg1"/>
                </a:solidFill>
              </a:rPr>
              <a:t>AICTE Student ID: STU66c05b192adaa1723882265</a:t>
            </a:r>
          </a:p>
        </p:txBody>
      </p:sp>
      <p:grpSp>
        <p:nvGrpSpPr>
          <p:cNvPr id="11" name="Group 10">
            <a:extLst>
              <a:ext uri="{FF2B5EF4-FFF2-40B4-BE49-F238E27FC236}">
                <a16:creationId xmlns:a16="http://schemas.microsoft.com/office/drawing/2014/main" id="{4FEFE379-1A37-6A9D-F064-3FCDE4E58A24}"/>
              </a:ext>
            </a:extLst>
          </p:cNvPr>
          <p:cNvGrpSpPr/>
          <p:nvPr/>
        </p:nvGrpSpPr>
        <p:grpSpPr>
          <a:xfrm>
            <a:off x="4889241" y="2812741"/>
            <a:ext cx="6797083" cy="1302059"/>
            <a:chOff x="4376057" y="2042965"/>
            <a:chExt cx="6797083" cy="1302059"/>
          </a:xfrm>
        </p:grpSpPr>
        <p:sp>
          <p:nvSpPr>
            <p:cNvPr id="6" name="Rectangle 5">
              <a:extLst>
                <a:ext uri="{FF2B5EF4-FFF2-40B4-BE49-F238E27FC236}">
                  <a16:creationId xmlns:a16="http://schemas.microsoft.com/office/drawing/2014/main" id="{FB2D949F-7CD0-223D-693C-FE055FBC4BD3}"/>
                </a:ext>
              </a:extLst>
            </p:cNvPr>
            <p:cNvSpPr/>
            <p:nvPr/>
          </p:nvSpPr>
          <p:spPr>
            <a:xfrm>
              <a:off x="4376057" y="2042965"/>
              <a:ext cx="6797083" cy="1302059"/>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DC72E96A-F884-F670-3CFD-2EB17DE6D969}"/>
                </a:ext>
              </a:extLst>
            </p:cNvPr>
            <p:cNvSpPr txBox="1"/>
            <p:nvPr/>
          </p:nvSpPr>
          <p:spPr>
            <a:xfrm>
              <a:off x="4376057" y="2136709"/>
              <a:ext cx="6797083" cy="1138773"/>
            </a:xfrm>
            <a:prstGeom prst="rect">
              <a:avLst/>
            </a:prstGeom>
            <a:noFill/>
          </p:spPr>
          <p:txBody>
            <a:bodyPr wrap="square" rtlCol="0">
              <a:spAutoFit/>
            </a:bodyPr>
            <a:lstStyle/>
            <a:p>
              <a:pPr algn="r"/>
              <a:r>
                <a:rPr lang="en-US" sz="3200" b="1" dirty="0">
                  <a:solidFill>
                    <a:schemeClr val="bg1"/>
                  </a:solidFill>
                  <a:latin typeface="+mj-lt"/>
                </a:rPr>
                <a:t>FOREST FIRE DETECTION USING DEEP LEARNING </a:t>
              </a:r>
              <a:r>
                <a:rPr lang="en-US" sz="3600" b="1" dirty="0">
                  <a:solidFill>
                    <a:schemeClr val="bg1"/>
                  </a:solidFill>
                  <a:latin typeface="+mj-lt"/>
                  <a:cs typeface="Times New Roman" panose="02020603050405020304" pitchFamily="18" charset="0"/>
                </a:rPr>
                <a:t> </a:t>
              </a:r>
              <a:r>
                <a:rPr lang="en-IN" sz="3600" b="1" dirty="0">
                  <a:solidFill>
                    <a:schemeClr val="bg1"/>
                  </a:solidFill>
                  <a:latin typeface="+mj-lt"/>
                  <a:cs typeface="Times New Roman" panose="02020603050405020304" pitchFamily="18" charset="0"/>
                </a:rPr>
                <a:t> </a:t>
              </a:r>
              <a:endParaRPr lang="en-US" sz="3600" b="1" dirty="0">
                <a:solidFill>
                  <a:schemeClr val="bg1"/>
                </a:solidFill>
                <a:latin typeface="+mj-lt"/>
                <a:cs typeface="Arial" panose="020B0604020202020204" pitchFamily="34" charset="0"/>
              </a:endParaRPr>
            </a:p>
          </p:txBody>
        </p:sp>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6766098" y="142240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264697" y="3239140"/>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a:extLst>
              <a:ext uri="{FF2B5EF4-FFF2-40B4-BE49-F238E27FC236}">
                <a16:creationId xmlns:a16="http://schemas.microsoft.com/office/drawing/2014/main" id="{4E8F17EC-26D5-56DA-23DE-B09DE3F2964C}"/>
              </a:ext>
            </a:extLst>
          </p:cNvPr>
          <p:cNvSpPr txBox="1"/>
          <p:nvPr/>
        </p:nvSpPr>
        <p:spPr>
          <a:xfrm>
            <a:off x="5630949" y="1326470"/>
            <a:ext cx="4343400" cy="3600986"/>
          </a:xfrm>
          <a:prstGeom prst="rect">
            <a:avLst/>
          </a:prstGeom>
          <a:noFill/>
        </p:spPr>
        <p:txBody>
          <a:bodyPr wrap="square" rtlCol="0">
            <a:spAutoFit/>
          </a:bodyPr>
          <a:lstStyle/>
          <a:p>
            <a:r>
              <a:rPr lang="en-IN" sz="2800" b="1" dirty="0">
                <a:latin typeface="Berlin Sans FB Demi" panose="020E0802020502020306" pitchFamily="34" charset="0"/>
              </a:rPr>
              <a:t>🗸 </a:t>
            </a:r>
            <a:r>
              <a:rPr lang="en-IN" sz="1600" b="1" dirty="0"/>
              <a:t>Understand the </a:t>
            </a:r>
          </a:p>
          <a:p>
            <a:r>
              <a:rPr lang="en-IN" sz="1600" b="1" dirty="0"/>
              <a:t>      use of CNN for </a:t>
            </a:r>
          </a:p>
          <a:p>
            <a:r>
              <a:rPr lang="en-IN" sz="1600" b="1" dirty="0"/>
              <a:t>      FFD</a:t>
            </a:r>
          </a:p>
          <a:p>
            <a:endParaRPr lang="en-IN" sz="1600" b="1" dirty="0"/>
          </a:p>
          <a:p>
            <a:endParaRPr lang="en-IN" sz="1600" b="1" dirty="0"/>
          </a:p>
          <a:p>
            <a:r>
              <a:rPr lang="en-IN" sz="2800" b="1" dirty="0">
                <a:latin typeface="Berlin Sans FB Demi" panose="020E0802020502020306" pitchFamily="34" charset="0"/>
              </a:rPr>
              <a:t>🗸</a:t>
            </a:r>
            <a:r>
              <a:rPr lang="en-IN" sz="1600" b="1" dirty="0">
                <a:latin typeface="Berlin Sans FB Demi" panose="020E0802020502020306" pitchFamily="34" charset="0"/>
              </a:rPr>
              <a:t> </a:t>
            </a:r>
            <a:r>
              <a:rPr lang="en-IN" sz="1600" b="1" dirty="0"/>
              <a:t>Learn how </a:t>
            </a:r>
          </a:p>
          <a:p>
            <a:r>
              <a:rPr lang="en-IN" sz="1600" b="1" dirty="0"/>
              <a:t>    Conv2D works</a:t>
            </a:r>
          </a:p>
          <a:p>
            <a:endParaRPr lang="en-IN" sz="1600" b="1" dirty="0"/>
          </a:p>
          <a:p>
            <a:endParaRPr lang="en-IN" sz="1600" b="1" dirty="0"/>
          </a:p>
          <a:p>
            <a:r>
              <a:rPr lang="en-IN" sz="2800" b="1" dirty="0">
                <a:latin typeface="Berlin Sans FB Demi" panose="020E0802020502020306" pitchFamily="34" charset="0"/>
              </a:rPr>
              <a:t>🗸 </a:t>
            </a:r>
            <a:r>
              <a:rPr lang="en-IN" sz="1600" b="1" dirty="0"/>
              <a:t>Analyse</a:t>
            </a:r>
          </a:p>
          <a:p>
            <a:r>
              <a:rPr lang="en-IN" sz="1600" b="1" dirty="0"/>
              <a:t>      the accuracy</a:t>
            </a:r>
          </a:p>
          <a:p>
            <a:r>
              <a:rPr lang="en-IN" sz="1600" b="1" dirty="0"/>
              <a:t>      of model</a:t>
            </a:r>
          </a:p>
        </p:txBody>
      </p:sp>
      <p:sp>
        <p:nvSpPr>
          <p:cNvPr id="9" name="Rectangle 8">
            <a:extLst>
              <a:ext uri="{FF2B5EF4-FFF2-40B4-BE49-F238E27FC236}">
                <a16:creationId xmlns:a16="http://schemas.microsoft.com/office/drawing/2014/main" id="{1954A0E5-034C-24A7-7704-2331C39E2113}"/>
              </a:ext>
            </a:extLst>
          </p:cNvPr>
          <p:cNvSpPr/>
          <p:nvPr/>
        </p:nvSpPr>
        <p:spPr>
          <a:xfrm>
            <a:off x="6003634" y="2967335"/>
            <a:ext cx="184731" cy="923330"/>
          </a:xfrm>
          <a:prstGeom prst="rect">
            <a:avLst/>
          </a:prstGeom>
          <a:noFill/>
        </p:spPr>
        <p:txBody>
          <a:bodyPr wrap="none" lIns="91440" tIns="45720" rIns="91440" bIns="45720">
            <a:spAutoFit/>
          </a:bodyPr>
          <a:lstStyle/>
          <a:p>
            <a:pPr algn="ctr"/>
            <a:endParaRPr lang="en-IN"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2" name="TextBox 11">
            <a:extLst>
              <a:ext uri="{FF2B5EF4-FFF2-40B4-BE49-F238E27FC236}">
                <a16:creationId xmlns:a16="http://schemas.microsoft.com/office/drawing/2014/main" id="{90535CB9-DD6B-9DEE-45C8-E546D23B35EF}"/>
              </a:ext>
            </a:extLst>
          </p:cNvPr>
          <p:cNvSpPr txBox="1"/>
          <p:nvPr/>
        </p:nvSpPr>
        <p:spPr>
          <a:xfrm>
            <a:off x="9768378" y="1383664"/>
            <a:ext cx="2535177" cy="1631409"/>
          </a:xfrm>
          <a:prstGeom prst="rect">
            <a:avLst/>
          </a:prstGeom>
          <a:noFill/>
        </p:spPr>
        <p:txBody>
          <a:bodyPr wrap="square" rtlCol="0">
            <a:spAutoFit/>
          </a:bodyPr>
          <a:lstStyle/>
          <a:p>
            <a:pPr lvl="2"/>
            <a:r>
              <a:rPr lang="en-IN" sz="2800" b="1" dirty="0">
                <a:latin typeface="Berlin Sans FB Demi" panose="020E0802020502020306" pitchFamily="34" charset="0"/>
              </a:rPr>
              <a:t>🗸 </a:t>
            </a:r>
            <a:r>
              <a:rPr lang="en-IN" sz="1600" b="1" dirty="0"/>
              <a:t>Explore &amp; build the </a:t>
            </a:r>
          </a:p>
          <a:p>
            <a:pPr lvl="2"/>
            <a:r>
              <a:rPr lang="en-IN" sz="1600" b="1" dirty="0"/>
              <a:t>      Build 2-Class Model                            </a:t>
            </a:r>
          </a:p>
          <a:p>
            <a:pPr lvl="2"/>
            <a:endParaRPr lang="en-IN" dirty="0"/>
          </a:p>
          <a:p>
            <a:endParaRPr lang="en-IN" dirty="0"/>
          </a:p>
          <a:p>
            <a:endParaRPr lang="en-IN" dirty="0"/>
          </a:p>
        </p:txBody>
      </p:sp>
      <p:sp>
        <p:nvSpPr>
          <p:cNvPr id="14" name="TextBox 13">
            <a:extLst>
              <a:ext uri="{FF2B5EF4-FFF2-40B4-BE49-F238E27FC236}">
                <a16:creationId xmlns:a16="http://schemas.microsoft.com/office/drawing/2014/main" id="{7EC14A55-AA64-9DAB-E0EF-C41500FB3BF0}"/>
              </a:ext>
            </a:extLst>
          </p:cNvPr>
          <p:cNvSpPr txBox="1"/>
          <p:nvPr/>
        </p:nvSpPr>
        <p:spPr>
          <a:xfrm>
            <a:off x="10101707" y="3842928"/>
            <a:ext cx="2069407" cy="1261884"/>
          </a:xfrm>
          <a:prstGeom prst="rect">
            <a:avLst/>
          </a:prstGeom>
          <a:noFill/>
        </p:spPr>
        <p:txBody>
          <a:bodyPr wrap="square" rtlCol="0">
            <a:spAutoFit/>
          </a:bodyPr>
          <a:lstStyle/>
          <a:p>
            <a:r>
              <a:rPr lang="en-IN" sz="2800" b="1" dirty="0">
                <a:latin typeface="Berlin Sans FB Demi" panose="020E0802020502020306" pitchFamily="34" charset="0"/>
              </a:rPr>
              <a:t>🗸</a:t>
            </a:r>
            <a:r>
              <a:rPr lang="en-IN" sz="2000" b="1" dirty="0">
                <a:latin typeface="Berlin Sans FB Demi" panose="020E0802020502020306" pitchFamily="34" charset="0"/>
              </a:rPr>
              <a:t> </a:t>
            </a:r>
            <a:r>
              <a:rPr lang="en-US" sz="1600" b="1" dirty="0"/>
              <a:t>Achieve Forest</a:t>
            </a:r>
          </a:p>
          <a:p>
            <a:r>
              <a:rPr lang="en-US" sz="1600" b="1" dirty="0"/>
              <a:t>      </a:t>
            </a:r>
            <a:r>
              <a:rPr lang="en-IN" sz="1600" b="1" dirty="0"/>
              <a:t>Fire Detection </a:t>
            </a:r>
          </a:p>
          <a:p>
            <a:r>
              <a:rPr lang="en-IN" sz="1600" b="1" dirty="0"/>
              <a:t>      Model with</a:t>
            </a:r>
          </a:p>
          <a:p>
            <a:r>
              <a:rPr lang="en-IN" sz="1600" b="1" dirty="0"/>
              <a:t>      High Accuracy</a:t>
            </a:r>
            <a:endParaRPr lang="en-IN" sz="1600" dirty="0"/>
          </a:p>
        </p:txBody>
      </p:sp>
      <p:sp>
        <p:nvSpPr>
          <p:cNvPr id="16" name="Rectangle: Rounded Corners 15">
            <a:extLst>
              <a:ext uri="{FF2B5EF4-FFF2-40B4-BE49-F238E27FC236}">
                <a16:creationId xmlns:a16="http://schemas.microsoft.com/office/drawing/2014/main" id="{866DA42F-A5F9-B5D6-E699-1470E572AE93}"/>
              </a:ext>
            </a:extLst>
          </p:cNvPr>
          <p:cNvSpPr/>
          <p:nvPr/>
        </p:nvSpPr>
        <p:spPr>
          <a:xfrm>
            <a:off x="191911" y="1422400"/>
            <a:ext cx="5412125" cy="4632958"/>
          </a:xfrm>
          <a:prstGeom prst="roundRect">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path path="circle">
              <a:fillToRect l="50000" t="50000" r="50000" b="50000"/>
            </a:path>
            <a:tileRect/>
          </a:gra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7" name="TextBox 16">
            <a:extLst>
              <a:ext uri="{FF2B5EF4-FFF2-40B4-BE49-F238E27FC236}">
                <a16:creationId xmlns:a16="http://schemas.microsoft.com/office/drawing/2014/main" id="{913B5333-2E18-F542-AD39-5EA8ADF51204}"/>
              </a:ext>
            </a:extLst>
          </p:cNvPr>
          <p:cNvSpPr txBox="1"/>
          <p:nvPr/>
        </p:nvSpPr>
        <p:spPr>
          <a:xfrm>
            <a:off x="410547" y="1763485"/>
            <a:ext cx="5113175" cy="4114844"/>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chemeClr val="accent5">
                    <a:lumMod val="50000"/>
                  </a:schemeClr>
                </a:solidFill>
              </a:rPr>
              <a:t>Learn how CNNs can automatically extract features from images to detect fire patterns.</a:t>
            </a:r>
            <a:endParaRPr lang="en-IN" dirty="0">
              <a:solidFill>
                <a:schemeClr val="accent5">
                  <a:lumMod val="50000"/>
                </a:schemeClr>
              </a:solidFill>
            </a:endParaRPr>
          </a:p>
          <a:p>
            <a:pPr marL="342900" indent="-342900">
              <a:buFont typeface="Arial" panose="020B0604020202020204" pitchFamily="34" charset="0"/>
              <a:buChar char="•"/>
            </a:pPr>
            <a:r>
              <a:rPr lang="en-US" dirty="0">
                <a:solidFill>
                  <a:schemeClr val="accent5">
                    <a:lumMod val="50000"/>
                  </a:schemeClr>
                </a:solidFill>
              </a:rPr>
              <a:t>Understand the internal working of convolutional layers in identifying edges, textures, and fire signatures.</a:t>
            </a:r>
            <a:endParaRPr lang="en-IN" dirty="0">
              <a:solidFill>
                <a:schemeClr val="accent5">
                  <a:lumMod val="50000"/>
                </a:schemeClr>
              </a:solidFill>
            </a:endParaRPr>
          </a:p>
          <a:p>
            <a:pPr marL="342900" indent="-342900">
              <a:buFont typeface="Arial" panose="020B0604020202020204" pitchFamily="34" charset="0"/>
              <a:buChar char="•"/>
            </a:pPr>
            <a:r>
              <a:rPr lang="en-US" dirty="0">
                <a:solidFill>
                  <a:schemeClr val="accent5">
                    <a:lumMod val="50000"/>
                  </a:schemeClr>
                </a:solidFill>
              </a:rPr>
              <a:t>Implement a CNN classifier to categorize images into “fire” or “no fire” classes.</a:t>
            </a:r>
            <a:endParaRPr lang="en-IN" dirty="0">
              <a:solidFill>
                <a:schemeClr val="accent5">
                  <a:lumMod val="50000"/>
                </a:schemeClr>
              </a:solidFill>
            </a:endParaRPr>
          </a:p>
          <a:p>
            <a:pPr marL="342900" indent="-342900">
              <a:buFont typeface="Arial" panose="020B0604020202020204" pitchFamily="34" charset="0"/>
              <a:buChar char="•"/>
            </a:pPr>
            <a:r>
              <a:rPr lang="en-US" dirty="0">
                <a:solidFill>
                  <a:schemeClr val="accent5">
                    <a:lumMod val="50000"/>
                  </a:schemeClr>
                </a:solidFill>
              </a:rPr>
              <a:t>Visualize training and validation accuracy/loss curves to assess model efficiency.</a:t>
            </a:r>
            <a:endParaRPr lang="en-IN" dirty="0">
              <a:solidFill>
                <a:schemeClr val="accent5">
                  <a:lumMod val="50000"/>
                </a:schemeClr>
              </a:solidFill>
            </a:endParaRPr>
          </a:p>
          <a:p>
            <a:pPr marL="342900" indent="-342900">
              <a:buFont typeface="Arial" panose="020B0604020202020204" pitchFamily="34" charset="0"/>
              <a:buChar char="•"/>
            </a:pPr>
            <a:r>
              <a:rPr lang="en-US" dirty="0">
                <a:solidFill>
                  <a:schemeClr val="accent5">
                    <a:lumMod val="50000"/>
                  </a:schemeClr>
                </a:solidFill>
              </a:rPr>
              <a:t>Use image generators for efficient loading and preprocessing of training data.</a:t>
            </a:r>
            <a:endParaRPr lang="en-IN" dirty="0">
              <a:solidFill>
                <a:schemeClr val="accent5">
                  <a:lumMod val="50000"/>
                </a:schemeClr>
              </a:solidFill>
            </a:endParaRPr>
          </a:p>
          <a:p>
            <a:pPr marL="342900" indent="-342900">
              <a:buFont typeface="Arial" panose="020B0604020202020204" pitchFamily="34" charset="0"/>
              <a:buChar char="•"/>
            </a:pPr>
            <a:r>
              <a:rPr lang="en-US" dirty="0">
                <a:solidFill>
                  <a:schemeClr val="accent5">
                    <a:lumMod val="50000"/>
                  </a:schemeClr>
                </a:solidFill>
              </a:rPr>
              <a:t>Use Dropout and validation data to reduce overfitting and improve generalization.</a:t>
            </a:r>
            <a:endParaRPr lang="en-IN" dirty="0">
              <a:solidFill>
                <a:schemeClr val="accent5">
                  <a:lumMod val="50000"/>
                </a:schemeClr>
              </a:solidFill>
            </a:endParaRP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a:solidFill>
                  <a:srgbClr val="213163"/>
                </a:solidFill>
              </a:rPr>
              <a:t>ools and Technology used </a:t>
            </a:r>
          </a:p>
        </p:txBody>
      </p:sp>
      <p:sp>
        <p:nvSpPr>
          <p:cNvPr id="8" name="TextBox 7">
            <a:extLst>
              <a:ext uri="{FF2B5EF4-FFF2-40B4-BE49-F238E27FC236}">
                <a16:creationId xmlns:a16="http://schemas.microsoft.com/office/drawing/2014/main" id="{6ECABA91-2EF4-20F5-0592-986B2B2A29B4}"/>
              </a:ext>
            </a:extLst>
          </p:cNvPr>
          <p:cNvSpPr txBox="1"/>
          <p:nvPr/>
        </p:nvSpPr>
        <p:spPr>
          <a:xfrm>
            <a:off x="373223" y="1707502"/>
            <a:ext cx="8396137" cy="4442306"/>
          </a:xfrm>
          <a:prstGeom prst="rect">
            <a:avLst/>
          </a:prstGeom>
          <a:noFill/>
        </p:spPr>
        <p:txBody>
          <a:bodyPr wrap="square" rtlCol="0">
            <a:spAutoFit/>
          </a:bodyPr>
          <a:lstStyle/>
          <a:p>
            <a:r>
              <a:rPr lang="en-IN" sz="2400" b="1" dirty="0">
                <a:solidFill>
                  <a:schemeClr val="accent5">
                    <a:lumMod val="50000"/>
                  </a:schemeClr>
                </a:solidFill>
              </a:rPr>
              <a:t>Programming Language:</a:t>
            </a:r>
            <a:r>
              <a:rPr lang="en-IN" sz="2400" dirty="0"/>
              <a:t> Python </a:t>
            </a:r>
          </a:p>
          <a:p>
            <a:r>
              <a:rPr lang="en-IN" sz="2400" b="1" dirty="0">
                <a:solidFill>
                  <a:schemeClr val="accent5">
                    <a:lumMod val="50000"/>
                  </a:schemeClr>
                </a:solidFill>
              </a:rPr>
              <a:t>Frameworks:</a:t>
            </a:r>
            <a:r>
              <a:rPr lang="en-IN" sz="2400" dirty="0">
                <a:solidFill>
                  <a:schemeClr val="accent5">
                    <a:lumMod val="50000"/>
                  </a:schemeClr>
                </a:solidFill>
              </a:rPr>
              <a:t> </a:t>
            </a:r>
            <a:r>
              <a:rPr lang="en-IN" sz="2400" dirty="0"/>
              <a:t>TensorFlow &amp; Keras </a:t>
            </a:r>
          </a:p>
          <a:p>
            <a:r>
              <a:rPr lang="en-US" sz="2400" b="1" dirty="0">
                <a:solidFill>
                  <a:schemeClr val="accent5">
                    <a:lumMod val="50000"/>
                  </a:schemeClr>
                </a:solidFill>
              </a:rPr>
              <a:t>Model Used:</a:t>
            </a:r>
            <a:r>
              <a:rPr lang="en-US" sz="2400" dirty="0">
                <a:solidFill>
                  <a:schemeClr val="accent5">
                    <a:lumMod val="50000"/>
                  </a:schemeClr>
                </a:solidFill>
              </a:rPr>
              <a:t> </a:t>
            </a:r>
            <a:r>
              <a:rPr lang="en-US" sz="2400" dirty="0"/>
              <a:t>CNN (Convolutional Neural Network) </a:t>
            </a:r>
            <a:endParaRPr lang="en-IN" sz="2400" dirty="0"/>
          </a:p>
          <a:p>
            <a:r>
              <a:rPr lang="en-US" sz="2400" b="1" dirty="0">
                <a:solidFill>
                  <a:schemeClr val="accent5">
                    <a:lumMod val="50000"/>
                  </a:schemeClr>
                </a:solidFill>
              </a:rPr>
              <a:t>Development Environment:</a:t>
            </a:r>
            <a:r>
              <a:rPr lang="en-US" sz="2400" dirty="0">
                <a:solidFill>
                  <a:schemeClr val="accent5">
                    <a:lumMod val="50000"/>
                  </a:schemeClr>
                </a:solidFill>
              </a:rPr>
              <a:t> </a:t>
            </a:r>
            <a:r>
              <a:rPr lang="en-US" sz="2400" dirty="0"/>
              <a:t>Google Colab (GPU Enabled) </a:t>
            </a:r>
            <a:endParaRPr lang="en-IN" sz="2400" dirty="0"/>
          </a:p>
          <a:p>
            <a:r>
              <a:rPr lang="en-IN" sz="2400" b="1" dirty="0">
                <a:solidFill>
                  <a:schemeClr val="accent5">
                    <a:lumMod val="50000"/>
                  </a:schemeClr>
                </a:solidFill>
              </a:rPr>
              <a:t>Dataset Source:</a:t>
            </a:r>
            <a:r>
              <a:rPr lang="en-IN" sz="2400" dirty="0">
                <a:solidFill>
                  <a:schemeClr val="accent5">
                    <a:lumMod val="50000"/>
                  </a:schemeClr>
                </a:solidFill>
              </a:rPr>
              <a:t> </a:t>
            </a:r>
            <a:r>
              <a:rPr lang="en-IN" sz="2400" dirty="0"/>
              <a:t>Kaggle </a:t>
            </a:r>
          </a:p>
          <a:p>
            <a:pPr>
              <a:buNone/>
            </a:pPr>
            <a:r>
              <a:rPr lang="en-IN" sz="2400" b="1" dirty="0">
                <a:solidFill>
                  <a:schemeClr val="accent5">
                    <a:lumMod val="50000"/>
                  </a:schemeClr>
                </a:solidFill>
              </a:rPr>
              <a:t>Other Tools:</a:t>
            </a:r>
            <a:endParaRPr lang="en-IN" sz="2400" dirty="0">
              <a:solidFill>
                <a:schemeClr val="accent5">
                  <a:lumMod val="50000"/>
                </a:schemeClr>
              </a:solidFill>
            </a:endParaRPr>
          </a:p>
          <a:p>
            <a:pPr>
              <a:buFont typeface="Arial" panose="020B0604020202020204" pitchFamily="34" charset="0"/>
              <a:buChar char="•"/>
            </a:pPr>
            <a:r>
              <a:rPr lang="en-IN" sz="2400" dirty="0"/>
              <a:t>Matplotlib </a:t>
            </a:r>
          </a:p>
          <a:p>
            <a:pPr>
              <a:buFont typeface="Arial" panose="020B0604020202020204" pitchFamily="34" charset="0"/>
              <a:buChar char="•"/>
            </a:pPr>
            <a:r>
              <a:rPr lang="en-IN" sz="2400" dirty="0"/>
              <a:t>Pandas </a:t>
            </a:r>
          </a:p>
          <a:p>
            <a:pPr>
              <a:buFont typeface="Arial" panose="020B0604020202020204" pitchFamily="34" charset="0"/>
              <a:buChar char="•"/>
            </a:pPr>
            <a:r>
              <a:rPr lang="en-IN" sz="2400" dirty="0"/>
              <a:t>Seaborn </a:t>
            </a:r>
          </a:p>
          <a:p>
            <a:endParaRPr lang="en-IN" sz="2400" dirty="0"/>
          </a:p>
          <a:p>
            <a:pPr>
              <a:buFont typeface="Arial" panose="020B0604020202020204" pitchFamily="34" charset="0"/>
              <a:buChar char="•"/>
            </a:pPr>
            <a:endParaRPr lang="en-IN" sz="2400" dirty="0"/>
          </a:p>
          <a:p>
            <a:endParaRPr lang="en-IN" dirty="0"/>
          </a:p>
        </p:txBody>
      </p:sp>
      <p:sp>
        <p:nvSpPr>
          <p:cNvPr id="12" name="Rectangle: Rounded Corners 11">
            <a:extLst>
              <a:ext uri="{FF2B5EF4-FFF2-40B4-BE49-F238E27FC236}">
                <a16:creationId xmlns:a16="http://schemas.microsoft.com/office/drawing/2014/main" id="{2FA57548-7DFE-2902-EEAA-0637517509E9}"/>
              </a:ext>
            </a:extLst>
          </p:cNvPr>
          <p:cNvSpPr/>
          <p:nvPr/>
        </p:nvSpPr>
        <p:spPr>
          <a:xfrm>
            <a:off x="9022703" y="5458408"/>
            <a:ext cx="2304660" cy="970384"/>
          </a:xfrm>
          <a:prstGeom prst="roundRect">
            <a:avLst/>
          </a:prstGeom>
          <a:gradFill flip="none" rotWithShape="1">
            <a:gsLst>
              <a:gs pos="0">
                <a:schemeClr val="accent3">
                  <a:tint val="100000"/>
                  <a:shade val="100000"/>
                  <a:satMod val="130000"/>
                </a:schemeClr>
              </a:gs>
              <a:gs pos="100000">
                <a:schemeClr val="accent3">
                  <a:tint val="50000"/>
                  <a:shade val="100000"/>
                  <a:satMod val="350000"/>
                </a:schemeClr>
              </a:gs>
            </a:gsLst>
            <a:lin ang="0" scaled="1"/>
            <a:tileRect/>
          </a:gra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IN">
              <a:solidFill>
                <a:srgbClr val="4B84F5"/>
              </a:solidFill>
            </a:endParaRPr>
          </a:p>
        </p:txBody>
      </p:sp>
      <p:sp>
        <p:nvSpPr>
          <p:cNvPr id="17" name="Rectangle: Rounded Corners 16">
            <a:extLst>
              <a:ext uri="{FF2B5EF4-FFF2-40B4-BE49-F238E27FC236}">
                <a16:creationId xmlns:a16="http://schemas.microsoft.com/office/drawing/2014/main" id="{F99E2D1C-077C-9625-4C92-DF5627DBF06C}"/>
              </a:ext>
            </a:extLst>
          </p:cNvPr>
          <p:cNvSpPr/>
          <p:nvPr/>
        </p:nvSpPr>
        <p:spPr>
          <a:xfrm>
            <a:off x="9022702" y="4368160"/>
            <a:ext cx="2304660" cy="970384"/>
          </a:xfrm>
          <a:prstGeom prst="roundRect">
            <a:avLst/>
          </a:prstGeom>
          <a:gradFill flip="none" rotWithShape="1">
            <a:gsLst>
              <a:gs pos="0">
                <a:schemeClr val="accent3">
                  <a:tint val="100000"/>
                  <a:shade val="100000"/>
                  <a:satMod val="130000"/>
                </a:schemeClr>
              </a:gs>
              <a:gs pos="100000">
                <a:schemeClr val="accent3">
                  <a:tint val="50000"/>
                  <a:shade val="100000"/>
                  <a:satMod val="350000"/>
                </a:schemeClr>
              </a:gs>
            </a:gsLst>
            <a:lin ang="0" scaled="1"/>
            <a:tileRect/>
          </a:gra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IN">
              <a:solidFill>
                <a:srgbClr val="4B84F5"/>
              </a:solidFill>
            </a:endParaRPr>
          </a:p>
        </p:txBody>
      </p:sp>
      <p:sp>
        <p:nvSpPr>
          <p:cNvPr id="18" name="Rectangle: Rounded Corners 17">
            <a:extLst>
              <a:ext uri="{FF2B5EF4-FFF2-40B4-BE49-F238E27FC236}">
                <a16:creationId xmlns:a16="http://schemas.microsoft.com/office/drawing/2014/main" id="{4C0D24B4-EE17-4853-4699-E1AA99F0743F}"/>
              </a:ext>
            </a:extLst>
          </p:cNvPr>
          <p:cNvSpPr/>
          <p:nvPr/>
        </p:nvSpPr>
        <p:spPr>
          <a:xfrm>
            <a:off x="9022702" y="3277912"/>
            <a:ext cx="2304660" cy="970384"/>
          </a:xfrm>
          <a:prstGeom prst="roundRect">
            <a:avLst/>
          </a:prstGeom>
          <a:gradFill flip="none" rotWithShape="1">
            <a:gsLst>
              <a:gs pos="0">
                <a:schemeClr val="accent3">
                  <a:tint val="100000"/>
                  <a:shade val="100000"/>
                  <a:satMod val="130000"/>
                </a:schemeClr>
              </a:gs>
              <a:gs pos="100000">
                <a:schemeClr val="accent3">
                  <a:tint val="50000"/>
                  <a:shade val="100000"/>
                  <a:satMod val="350000"/>
                </a:schemeClr>
              </a:gs>
            </a:gsLst>
            <a:lin ang="0" scaled="1"/>
            <a:tileRect/>
          </a:gra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IN">
              <a:solidFill>
                <a:srgbClr val="4B84F5"/>
              </a:solidFill>
            </a:endParaRPr>
          </a:p>
        </p:txBody>
      </p:sp>
      <p:sp>
        <p:nvSpPr>
          <p:cNvPr id="19" name="Rectangle: Rounded Corners 18">
            <a:extLst>
              <a:ext uri="{FF2B5EF4-FFF2-40B4-BE49-F238E27FC236}">
                <a16:creationId xmlns:a16="http://schemas.microsoft.com/office/drawing/2014/main" id="{5678C59A-7D02-9FE4-6B36-AB014FA55ADD}"/>
              </a:ext>
            </a:extLst>
          </p:cNvPr>
          <p:cNvSpPr/>
          <p:nvPr/>
        </p:nvSpPr>
        <p:spPr>
          <a:xfrm>
            <a:off x="9022702" y="2187664"/>
            <a:ext cx="2304660" cy="970384"/>
          </a:xfrm>
          <a:prstGeom prst="roundRect">
            <a:avLst/>
          </a:prstGeom>
          <a:gradFill flip="none" rotWithShape="1">
            <a:gsLst>
              <a:gs pos="0">
                <a:schemeClr val="accent3">
                  <a:tint val="100000"/>
                  <a:shade val="100000"/>
                  <a:satMod val="130000"/>
                </a:schemeClr>
              </a:gs>
              <a:gs pos="100000">
                <a:schemeClr val="accent3">
                  <a:tint val="50000"/>
                  <a:shade val="100000"/>
                  <a:satMod val="350000"/>
                </a:schemeClr>
              </a:gs>
            </a:gsLst>
            <a:lin ang="0" scaled="1"/>
            <a:tileRect/>
          </a:gra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IN">
              <a:solidFill>
                <a:srgbClr val="4B84F5"/>
              </a:solidFill>
            </a:endParaRPr>
          </a:p>
        </p:txBody>
      </p:sp>
      <p:sp>
        <p:nvSpPr>
          <p:cNvPr id="20" name="Rectangle: Rounded Corners 19">
            <a:extLst>
              <a:ext uri="{FF2B5EF4-FFF2-40B4-BE49-F238E27FC236}">
                <a16:creationId xmlns:a16="http://schemas.microsoft.com/office/drawing/2014/main" id="{43D6C0B4-43C7-97E8-77A4-115C8FD13C6A}"/>
              </a:ext>
            </a:extLst>
          </p:cNvPr>
          <p:cNvSpPr/>
          <p:nvPr/>
        </p:nvSpPr>
        <p:spPr>
          <a:xfrm>
            <a:off x="9022702" y="1097416"/>
            <a:ext cx="2304660" cy="970384"/>
          </a:xfrm>
          <a:prstGeom prst="roundRect">
            <a:avLst/>
          </a:prstGeom>
          <a:gradFill flip="none" rotWithShape="1">
            <a:gsLst>
              <a:gs pos="0">
                <a:schemeClr val="accent3">
                  <a:tint val="100000"/>
                  <a:shade val="100000"/>
                  <a:satMod val="130000"/>
                </a:schemeClr>
              </a:gs>
              <a:gs pos="100000">
                <a:schemeClr val="accent3">
                  <a:tint val="50000"/>
                  <a:shade val="100000"/>
                  <a:satMod val="350000"/>
                </a:schemeClr>
              </a:gs>
            </a:gsLst>
            <a:lin ang="0" scaled="1"/>
            <a:tileRect/>
          </a:gra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IN">
              <a:solidFill>
                <a:srgbClr val="4B84F5"/>
              </a:solidFill>
            </a:endParaRPr>
          </a:p>
        </p:txBody>
      </p:sp>
      <p:pic>
        <p:nvPicPr>
          <p:cNvPr id="21" name="Picture 20">
            <a:extLst>
              <a:ext uri="{FF2B5EF4-FFF2-40B4-BE49-F238E27FC236}">
                <a16:creationId xmlns:a16="http://schemas.microsoft.com/office/drawing/2014/main" id="{0553E982-FA67-3B84-C47D-843C6C29686C}"/>
              </a:ext>
            </a:extLst>
          </p:cNvPr>
          <p:cNvPicPr>
            <a:picLocks noChangeAspect="1"/>
          </p:cNvPicPr>
          <p:nvPr/>
        </p:nvPicPr>
        <p:blipFill>
          <a:blip r:embed="rId2"/>
          <a:stretch>
            <a:fillRect/>
          </a:stretch>
        </p:blipFill>
        <p:spPr>
          <a:xfrm>
            <a:off x="9022702" y="5639921"/>
            <a:ext cx="749615" cy="749615"/>
          </a:xfrm>
          <a:prstGeom prst="rect">
            <a:avLst/>
          </a:prstGeom>
        </p:spPr>
      </p:pic>
      <p:sp>
        <p:nvSpPr>
          <p:cNvPr id="22" name="TextBox 21">
            <a:extLst>
              <a:ext uri="{FF2B5EF4-FFF2-40B4-BE49-F238E27FC236}">
                <a16:creationId xmlns:a16="http://schemas.microsoft.com/office/drawing/2014/main" id="{1E93640B-5B6E-0B27-C67A-747155A775DA}"/>
              </a:ext>
            </a:extLst>
          </p:cNvPr>
          <p:cNvSpPr txBox="1"/>
          <p:nvPr/>
        </p:nvSpPr>
        <p:spPr>
          <a:xfrm>
            <a:off x="9772317" y="5537719"/>
            <a:ext cx="1973179" cy="830997"/>
          </a:xfrm>
          <a:prstGeom prst="rect">
            <a:avLst/>
          </a:prstGeom>
          <a:noFill/>
        </p:spPr>
        <p:txBody>
          <a:bodyPr wrap="square" rtlCol="0">
            <a:spAutoFit/>
          </a:bodyPr>
          <a:lstStyle/>
          <a:p>
            <a:r>
              <a:rPr lang="en-IN" sz="1600" b="1" dirty="0"/>
              <a:t>Python</a:t>
            </a:r>
          </a:p>
          <a:p>
            <a:r>
              <a:rPr lang="en-IN" sz="1600" b="1" dirty="0"/>
              <a:t>(Programming </a:t>
            </a:r>
          </a:p>
          <a:p>
            <a:r>
              <a:rPr lang="en-IN" sz="1600" b="1" dirty="0"/>
              <a:t>Language)</a:t>
            </a:r>
          </a:p>
        </p:txBody>
      </p:sp>
      <p:pic>
        <p:nvPicPr>
          <p:cNvPr id="23" name="Picture 22">
            <a:extLst>
              <a:ext uri="{FF2B5EF4-FFF2-40B4-BE49-F238E27FC236}">
                <a16:creationId xmlns:a16="http://schemas.microsoft.com/office/drawing/2014/main" id="{FF47DBAB-56FA-9B20-FC2F-4F340D2EE9DB}"/>
              </a:ext>
            </a:extLst>
          </p:cNvPr>
          <p:cNvPicPr>
            <a:picLocks noChangeAspect="1"/>
          </p:cNvPicPr>
          <p:nvPr/>
        </p:nvPicPr>
        <p:blipFill>
          <a:blip r:embed="rId3"/>
          <a:stretch>
            <a:fillRect/>
          </a:stretch>
        </p:blipFill>
        <p:spPr>
          <a:xfrm>
            <a:off x="9208169" y="4447471"/>
            <a:ext cx="1892968" cy="834994"/>
          </a:xfrm>
          <a:prstGeom prst="rect">
            <a:avLst/>
          </a:prstGeom>
        </p:spPr>
      </p:pic>
      <p:pic>
        <p:nvPicPr>
          <p:cNvPr id="24" name="Picture 23">
            <a:extLst>
              <a:ext uri="{FF2B5EF4-FFF2-40B4-BE49-F238E27FC236}">
                <a16:creationId xmlns:a16="http://schemas.microsoft.com/office/drawing/2014/main" id="{019E546A-41D8-BD6A-A195-5B6C32C1DAA1}"/>
              </a:ext>
            </a:extLst>
          </p:cNvPr>
          <p:cNvPicPr>
            <a:picLocks noChangeAspect="1"/>
          </p:cNvPicPr>
          <p:nvPr/>
        </p:nvPicPr>
        <p:blipFill>
          <a:blip r:embed="rId4"/>
          <a:stretch>
            <a:fillRect/>
          </a:stretch>
        </p:blipFill>
        <p:spPr>
          <a:xfrm>
            <a:off x="9208169" y="3326398"/>
            <a:ext cx="1892967" cy="891073"/>
          </a:xfrm>
          <a:prstGeom prst="rect">
            <a:avLst/>
          </a:prstGeom>
        </p:spPr>
      </p:pic>
      <p:pic>
        <p:nvPicPr>
          <p:cNvPr id="25" name="Picture 24">
            <a:extLst>
              <a:ext uri="{FF2B5EF4-FFF2-40B4-BE49-F238E27FC236}">
                <a16:creationId xmlns:a16="http://schemas.microsoft.com/office/drawing/2014/main" id="{0E8E1EA2-FB6D-25AC-D357-F0A849073ABA}"/>
              </a:ext>
            </a:extLst>
          </p:cNvPr>
          <p:cNvPicPr>
            <a:picLocks noChangeAspect="1"/>
          </p:cNvPicPr>
          <p:nvPr/>
        </p:nvPicPr>
        <p:blipFill>
          <a:blip r:embed="rId5"/>
          <a:stretch>
            <a:fillRect/>
          </a:stretch>
        </p:blipFill>
        <p:spPr>
          <a:xfrm>
            <a:off x="9124794" y="2279061"/>
            <a:ext cx="787590" cy="787590"/>
          </a:xfrm>
          <a:prstGeom prst="rect">
            <a:avLst/>
          </a:prstGeom>
        </p:spPr>
      </p:pic>
      <p:sp>
        <p:nvSpPr>
          <p:cNvPr id="26" name="TextBox 25">
            <a:extLst>
              <a:ext uri="{FF2B5EF4-FFF2-40B4-BE49-F238E27FC236}">
                <a16:creationId xmlns:a16="http://schemas.microsoft.com/office/drawing/2014/main" id="{B59EBD27-F97A-5D86-CB5A-2D43C75E3B2A}"/>
              </a:ext>
            </a:extLst>
          </p:cNvPr>
          <p:cNvSpPr txBox="1"/>
          <p:nvPr/>
        </p:nvSpPr>
        <p:spPr>
          <a:xfrm>
            <a:off x="9912384" y="2279061"/>
            <a:ext cx="1301048" cy="666977"/>
          </a:xfrm>
          <a:prstGeom prst="rect">
            <a:avLst/>
          </a:prstGeom>
          <a:noFill/>
        </p:spPr>
        <p:txBody>
          <a:bodyPr wrap="square" rtlCol="0">
            <a:spAutoFit/>
          </a:bodyPr>
          <a:lstStyle/>
          <a:p>
            <a:r>
              <a:rPr lang="en-IN" b="1" dirty="0"/>
              <a:t>Kaggle</a:t>
            </a:r>
          </a:p>
          <a:p>
            <a:r>
              <a:rPr lang="en-IN" b="1" dirty="0"/>
              <a:t>(dataset)</a:t>
            </a:r>
          </a:p>
        </p:txBody>
      </p:sp>
      <p:pic>
        <p:nvPicPr>
          <p:cNvPr id="27" name="Picture 26">
            <a:extLst>
              <a:ext uri="{FF2B5EF4-FFF2-40B4-BE49-F238E27FC236}">
                <a16:creationId xmlns:a16="http://schemas.microsoft.com/office/drawing/2014/main" id="{422B07A4-BF9F-E5EF-FD8F-510E656B80E4}"/>
              </a:ext>
            </a:extLst>
          </p:cNvPr>
          <p:cNvPicPr>
            <a:picLocks noChangeAspect="1"/>
          </p:cNvPicPr>
          <p:nvPr/>
        </p:nvPicPr>
        <p:blipFill>
          <a:blip r:embed="rId6"/>
          <a:stretch>
            <a:fillRect/>
          </a:stretch>
        </p:blipFill>
        <p:spPr>
          <a:xfrm>
            <a:off x="9124795" y="1235242"/>
            <a:ext cx="1206322" cy="740412"/>
          </a:xfrm>
          <a:prstGeom prst="rect">
            <a:avLst/>
          </a:prstGeom>
        </p:spPr>
      </p:pic>
      <p:sp>
        <p:nvSpPr>
          <p:cNvPr id="28" name="TextBox 27">
            <a:extLst>
              <a:ext uri="{FF2B5EF4-FFF2-40B4-BE49-F238E27FC236}">
                <a16:creationId xmlns:a16="http://schemas.microsoft.com/office/drawing/2014/main" id="{65580D4F-62BD-1AAE-7ECD-8A08097BB452}"/>
              </a:ext>
            </a:extLst>
          </p:cNvPr>
          <p:cNvSpPr txBox="1"/>
          <p:nvPr/>
        </p:nvSpPr>
        <p:spPr>
          <a:xfrm>
            <a:off x="10331117" y="1242046"/>
            <a:ext cx="996245" cy="666977"/>
          </a:xfrm>
          <a:prstGeom prst="rect">
            <a:avLst/>
          </a:prstGeom>
          <a:noFill/>
        </p:spPr>
        <p:txBody>
          <a:bodyPr wrap="square" rtlCol="0">
            <a:spAutoFit/>
          </a:bodyPr>
          <a:lstStyle/>
          <a:p>
            <a:r>
              <a:rPr lang="en-IN" b="1" dirty="0"/>
              <a:t>(Libraries)</a:t>
            </a:r>
          </a:p>
        </p:txBody>
      </p:sp>
      <p:sp>
        <p:nvSpPr>
          <p:cNvPr id="32" name="Arrow: Down 31">
            <a:extLst>
              <a:ext uri="{FF2B5EF4-FFF2-40B4-BE49-F238E27FC236}">
                <a16:creationId xmlns:a16="http://schemas.microsoft.com/office/drawing/2014/main" id="{F5D6AF88-4AF0-2D0C-19AD-A06D89B6BB2F}"/>
              </a:ext>
            </a:extLst>
          </p:cNvPr>
          <p:cNvSpPr/>
          <p:nvPr/>
        </p:nvSpPr>
        <p:spPr>
          <a:xfrm rot="10800000">
            <a:off x="11580704" y="1097416"/>
            <a:ext cx="356091" cy="5331376"/>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pic>
        <p:nvPicPr>
          <p:cNvPr id="2" name="Picture 1">
            <a:extLst>
              <a:ext uri="{FF2B5EF4-FFF2-40B4-BE49-F238E27FC236}">
                <a16:creationId xmlns:a16="http://schemas.microsoft.com/office/drawing/2014/main" id="{E05E226A-038C-C05A-EB73-C6004AFE89C5}"/>
              </a:ext>
            </a:extLst>
          </p:cNvPr>
          <p:cNvPicPr>
            <a:picLocks noChangeAspect="1"/>
          </p:cNvPicPr>
          <p:nvPr/>
        </p:nvPicPr>
        <p:blipFill>
          <a:blip r:embed="rId2"/>
          <a:srcRect l="6382" t="14467" r="73471" b="3655"/>
          <a:stretch/>
        </p:blipFill>
        <p:spPr>
          <a:xfrm>
            <a:off x="487828" y="1414766"/>
            <a:ext cx="942391" cy="5309119"/>
          </a:xfrm>
          <a:prstGeom prst="rect">
            <a:avLst/>
          </a:prstGeom>
        </p:spPr>
      </p:pic>
      <p:grpSp>
        <p:nvGrpSpPr>
          <p:cNvPr id="21" name="Group 20">
            <a:extLst>
              <a:ext uri="{FF2B5EF4-FFF2-40B4-BE49-F238E27FC236}">
                <a16:creationId xmlns:a16="http://schemas.microsoft.com/office/drawing/2014/main" id="{78360217-AC1E-FB89-E344-EC14537741A1}"/>
              </a:ext>
            </a:extLst>
          </p:cNvPr>
          <p:cNvGrpSpPr/>
          <p:nvPr/>
        </p:nvGrpSpPr>
        <p:grpSpPr>
          <a:xfrm>
            <a:off x="1430219" y="1553575"/>
            <a:ext cx="2659224" cy="718183"/>
            <a:chOff x="2696953" y="1163505"/>
            <a:chExt cx="2659224" cy="718183"/>
          </a:xfrm>
        </p:grpSpPr>
        <p:sp>
          <p:nvSpPr>
            <p:cNvPr id="5" name="Rectangle 4">
              <a:extLst>
                <a:ext uri="{FF2B5EF4-FFF2-40B4-BE49-F238E27FC236}">
                  <a16:creationId xmlns:a16="http://schemas.microsoft.com/office/drawing/2014/main" id="{0A868822-C243-EC56-C735-133B24D4F17C}"/>
                </a:ext>
              </a:extLst>
            </p:cNvPr>
            <p:cNvSpPr/>
            <p:nvPr/>
          </p:nvSpPr>
          <p:spPr>
            <a:xfrm>
              <a:off x="2696953" y="1163505"/>
              <a:ext cx="2244017" cy="560828"/>
            </a:xfrm>
            <a:prstGeom prst="rect">
              <a:avLst/>
            </a:prstGeom>
            <a:gradFill flip="none" rotWithShape="1">
              <a:gsLst>
                <a:gs pos="0">
                  <a:srgbClr val="4B84F5">
                    <a:tint val="66000"/>
                    <a:satMod val="160000"/>
                  </a:srgbClr>
                </a:gs>
                <a:gs pos="50000">
                  <a:srgbClr val="4B84F5">
                    <a:tint val="44500"/>
                    <a:satMod val="160000"/>
                  </a:srgbClr>
                </a:gs>
                <a:gs pos="100000">
                  <a:srgbClr val="4B84F5">
                    <a:tint val="23500"/>
                    <a:satMod val="160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0BF0251E-5687-9BCF-F32C-55DB25CEB3F5}"/>
                </a:ext>
              </a:extLst>
            </p:cNvPr>
            <p:cNvSpPr txBox="1"/>
            <p:nvPr/>
          </p:nvSpPr>
          <p:spPr>
            <a:xfrm>
              <a:off x="2873829" y="1214711"/>
              <a:ext cx="2482348" cy="666977"/>
            </a:xfrm>
            <a:prstGeom prst="rect">
              <a:avLst/>
            </a:prstGeom>
            <a:noFill/>
          </p:spPr>
          <p:txBody>
            <a:bodyPr wrap="square" rtlCol="0">
              <a:spAutoFit/>
            </a:bodyPr>
            <a:lstStyle/>
            <a:p>
              <a:r>
                <a:rPr lang="en-IN" b="1" dirty="0"/>
                <a:t>Data Collection</a:t>
              </a:r>
            </a:p>
            <a:p>
              <a:endParaRPr lang="en-IN" dirty="0"/>
            </a:p>
          </p:txBody>
        </p:sp>
      </p:grpSp>
      <p:grpSp>
        <p:nvGrpSpPr>
          <p:cNvPr id="22" name="Group 21">
            <a:extLst>
              <a:ext uri="{FF2B5EF4-FFF2-40B4-BE49-F238E27FC236}">
                <a16:creationId xmlns:a16="http://schemas.microsoft.com/office/drawing/2014/main" id="{8DB51E7A-1D1B-2D8B-D252-8ACFF44AD8A2}"/>
              </a:ext>
            </a:extLst>
          </p:cNvPr>
          <p:cNvGrpSpPr/>
          <p:nvPr/>
        </p:nvGrpSpPr>
        <p:grpSpPr>
          <a:xfrm>
            <a:off x="1430219" y="3127019"/>
            <a:ext cx="2709227" cy="718183"/>
            <a:chOff x="2696953" y="1163505"/>
            <a:chExt cx="2659224" cy="718183"/>
          </a:xfrm>
        </p:grpSpPr>
        <p:sp>
          <p:nvSpPr>
            <p:cNvPr id="23" name="Rectangle 22">
              <a:extLst>
                <a:ext uri="{FF2B5EF4-FFF2-40B4-BE49-F238E27FC236}">
                  <a16:creationId xmlns:a16="http://schemas.microsoft.com/office/drawing/2014/main" id="{B9BF2420-713D-76E0-B8A7-F970DF66F1F6}"/>
                </a:ext>
              </a:extLst>
            </p:cNvPr>
            <p:cNvSpPr/>
            <p:nvPr/>
          </p:nvSpPr>
          <p:spPr>
            <a:xfrm>
              <a:off x="2696953" y="1163505"/>
              <a:ext cx="2244017" cy="560828"/>
            </a:xfrm>
            <a:prstGeom prst="rect">
              <a:avLst/>
            </a:prstGeom>
            <a:gradFill flip="none" rotWithShape="1">
              <a:gsLst>
                <a:gs pos="0">
                  <a:srgbClr val="4B84F5">
                    <a:tint val="66000"/>
                    <a:satMod val="160000"/>
                  </a:srgbClr>
                </a:gs>
                <a:gs pos="50000">
                  <a:srgbClr val="4B84F5">
                    <a:tint val="44500"/>
                    <a:satMod val="160000"/>
                  </a:srgbClr>
                </a:gs>
                <a:gs pos="100000">
                  <a:srgbClr val="4B84F5">
                    <a:tint val="23500"/>
                    <a:satMod val="160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A55BE472-A830-48BC-4135-DDEA7C1CAFE1}"/>
                </a:ext>
              </a:extLst>
            </p:cNvPr>
            <p:cNvSpPr txBox="1"/>
            <p:nvPr/>
          </p:nvSpPr>
          <p:spPr>
            <a:xfrm>
              <a:off x="2873829" y="1214711"/>
              <a:ext cx="2482348" cy="666977"/>
            </a:xfrm>
            <a:prstGeom prst="rect">
              <a:avLst/>
            </a:prstGeom>
            <a:noFill/>
          </p:spPr>
          <p:txBody>
            <a:bodyPr wrap="square" rtlCol="0">
              <a:spAutoFit/>
            </a:bodyPr>
            <a:lstStyle/>
            <a:p>
              <a:r>
                <a:rPr lang="en-IN" b="1" dirty="0"/>
                <a:t>Model Selection</a:t>
              </a:r>
            </a:p>
            <a:p>
              <a:endParaRPr lang="en-IN" dirty="0"/>
            </a:p>
          </p:txBody>
        </p:sp>
      </p:grpSp>
      <p:grpSp>
        <p:nvGrpSpPr>
          <p:cNvPr id="25" name="Group 24">
            <a:extLst>
              <a:ext uri="{FF2B5EF4-FFF2-40B4-BE49-F238E27FC236}">
                <a16:creationId xmlns:a16="http://schemas.microsoft.com/office/drawing/2014/main" id="{F2B56F77-8381-6FE9-5152-1649A7CB3EAA}"/>
              </a:ext>
            </a:extLst>
          </p:cNvPr>
          <p:cNvGrpSpPr/>
          <p:nvPr/>
        </p:nvGrpSpPr>
        <p:grpSpPr>
          <a:xfrm>
            <a:off x="1430219" y="4171096"/>
            <a:ext cx="2735360" cy="718183"/>
            <a:chOff x="2696953" y="1163505"/>
            <a:chExt cx="2659224" cy="718183"/>
          </a:xfrm>
        </p:grpSpPr>
        <p:sp>
          <p:nvSpPr>
            <p:cNvPr id="26" name="Rectangle 25">
              <a:extLst>
                <a:ext uri="{FF2B5EF4-FFF2-40B4-BE49-F238E27FC236}">
                  <a16:creationId xmlns:a16="http://schemas.microsoft.com/office/drawing/2014/main" id="{D43FD269-8737-3B19-750E-578C2D7166E6}"/>
                </a:ext>
              </a:extLst>
            </p:cNvPr>
            <p:cNvSpPr/>
            <p:nvPr/>
          </p:nvSpPr>
          <p:spPr>
            <a:xfrm>
              <a:off x="2696953" y="1163505"/>
              <a:ext cx="2244017" cy="560828"/>
            </a:xfrm>
            <a:prstGeom prst="rect">
              <a:avLst/>
            </a:prstGeom>
            <a:gradFill flip="none" rotWithShape="1">
              <a:gsLst>
                <a:gs pos="0">
                  <a:srgbClr val="4B84F5">
                    <a:tint val="66000"/>
                    <a:satMod val="160000"/>
                  </a:srgbClr>
                </a:gs>
                <a:gs pos="50000">
                  <a:srgbClr val="4B84F5">
                    <a:tint val="44500"/>
                    <a:satMod val="160000"/>
                  </a:srgbClr>
                </a:gs>
                <a:gs pos="100000">
                  <a:srgbClr val="4B84F5">
                    <a:tint val="23500"/>
                    <a:satMod val="160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8F30CF17-1B9B-3F6E-9752-0FEEA4597828}"/>
                </a:ext>
              </a:extLst>
            </p:cNvPr>
            <p:cNvSpPr txBox="1"/>
            <p:nvPr/>
          </p:nvSpPr>
          <p:spPr>
            <a:xfrm>
              <a:off x="2873829" y="1214711"/>
              <a:ext cx="2482348" cy="666977"/>
            </a:xfrm>
            <a:prstGeom prst="rect">
              <a:avLst/>
            </a:prstGeom>
            <a:noFill/>
          </p:spPr>
          <p:txBody>
            <a:bodyPr wrap="square" rtlCol="0">
              <a:spAutoFit/>
            </a:bodyPr>
            <a:lstStyle/>
            <a:p>
              <a:r>
                <a:rPr lang="en-IN" b="1" dirty="0"/>
                <a:t>Model Training</a:t>
              </a:r>
            </a:p>
            <a:p>
              <a:endParaRPr lang="en-IN" dirty="0"/>
            </a:p>
          </p:txBody>
        </p:sp>
      </p:grpSp>
      <p:grpSp>
        <p:nvGrpSpPr>
          <p:cNvPr id="28" name="Group 27">
            <a:extLst>
              <a:ext uri="{FF2B5EF4-FFF2-40B4-BE49-F238E27FC236}">
                <a16:creationId xmlns:a16="http://schemas.microsoft.com/office/drawing/2014/main" id="{1A5376E4-D9D6-3EB2-A2BD-F02BB0994862}"/>
              </a:ext>
            </a:extLst>
          </p:cNvPr>
          <p:cNvGrpSpPr/>
          <p:nvPr/>
        </p:nvGrpSpPr>
        <p:grpSpPr>
          <a:xfrm>
            <a:off x="1430219" y="5150461"/>
            <a:ext cx="2747662" cy="718183"/>
            <a:chOff x="2696953" y="1163505"/>
            <a:chExt cx="2659224" cy="718183"/>
          </a:xfrm>
        </p:grpSpPr>
        <p:sp>
          <p:nvSpPr>
            <p:cNvPr id="29" name="Rectangle 28">
              <a:extLst>
                <a:ext uri="{FF2B5EF4-FFF2-40B4-BE49-F238E27FC236}">
                  <a16:creationId xmlns:a16="http://schemas.microsoft.com/office/drawing/2014/main" id="{1386DC09-3565-0D08-3D66-A13BB04C2FF0}"/>
                </a:ext>
              </a:extLst>
            </p:cNvPr>
            <p:cNvSpPr/>
            <p:nvPr/>
          </p:nvSpPr>
          <p:spPr>
            <a:xfrm>
              <a:off x="2696953" y="1163505"/>
              <a:ext cx="2244017" cy="560828"/>
            </a:xfrm>
            <a:prstGeom prst="rect">
              <a:avLst/>
            </a:prstGeom>
            <a:gradFill flip="none" rotWithShape="1">
              <a:gsLst>
                <a:gs pos="0">
                  <a:srgbClr val="4B84F5">
                    <a:tint val="66000"/>
                    <a:satMod val="160000"/>
                  </a:srgbClr>
                </a:gs>
                <a:gs pos="50000">
                  <a:srgbClr val="4B84F5">
                    <a:tint val="44500"/>
                    <a:satMod val="160000"/>
                  </a:srgbClr>
                </a:gs>
                <a:gs pos="100000">
                  <a:srgbClr val="4B84F5">
                    <a:tint val="23500"/>
                    <a:satMod val="160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0473A610-83BF-F687-432E-21C6041C4B32}"/>
                </a:ext>
              </a:extLst>
            </p:cNvPr>
            <p:cNvSpPr txBox="1"/>
            <p:nvPr/>
          </p:nvSpPr>
          <p:spPr>
            <a:xfrm>
              <a:off x="2873829" y="1214711"/>
              <a:ext cx="2482348" cy="666977"/>
            </a:xfrm>
            <a:prstGeom prst="rect">
              <a:avLst/>
            </a:prstGeom>
            <a:noFill/>
          </p:spPr>
          <p:txBody>
            <a:bodyPr wrap="square" rtlCol="0">
              <a:spAutoFit/>
            </a:bodyPr>
            <a:lstStyle/>
            <a:p>
              <a:r>
                <a:rPr lang="en-IN" b="1" dirty="0"/>
                <a:t>   Evaluation</a:t>
              </a:r>
            </a:p>
            <a:p>
              <a:endParaRPr lang="en-IN" dirty="0"/>
            </a:p>
          </p:txBody>
        </p:sp>
      </p:grpSp>
      <p:grpSp>
        <p:nvGrpSpPr>
          <p:cNvPr id="31" name="Group 30">
            <a:extLst>
              <a:ext uri="{FF2B5EF4-FFF2-40B4-BE49-F238E27FC236}">
                <a16:creationId xmlns:a16="http://schemas.microsoft.com/office/drawing/2014/main" id="{D17F7E7A-ED21-79A5-3135-D65AEC7BBDB5}"/>
              </a:ext>
            </a:extLst>
          </p:cNvPr>
          <p:cNvGrpSpPr/>
          <p:nvPr/>
        </p:nvGrpSpPr>
        <p:grpSpPr>
          <a:xfrm>
            <a:off x="1430219" y="6005702"/>
            <a:ext cx="2747662" cy="718183"/>
            <a:chOff x="2696953" y="1163505"/>
            <a:chExt cx="2659224" cy="718183"/>
          </a:xfrm>
        </p:grpSpPr>
        <p:sp>
          <p:nvSpPr>
            <p:cNvPr id="32" name="Rectangle 31">
              <a:extLst>
                <a:ext uri="{FF2B5EF4-FFF2-40B4-BE49-F238E27FC236}">
                  <a16:creationId xmlns:a16="http://schemas.microsoft.com/office/drawing/2014/main" id="{359839AE-A8AE-E651-DF97-9D211F13B548}"/>
                </a:ext>
              </a:extLst>
            </p:cNvPr>
            <p:cNvSpPr/>
            <p:nvPr/>
          </p:nvSpPr>
          <p:spPr>
            <a:xfrm>
              <a:off x="2696953" y="1163505"/>
              <a:ext cx="2244017" cy="560828"/>
            </a:xfrm>
            <a:prstGeom prst="rect">
              <a:avLst/>
            </a:prstGeom>
            <a:gradFill flip="none" rotWithShape="1">
              <a:gsLst>
                <a:gs pos="0">
                  <a:srgbClr val="4B84F5">
                    <a:tint val="66000"/>
                    <a:satMod val="160000"/>
                  </a:srgbClr>
                </a:gs>
                <a:gs pos="50000">
                  <a:srgbClr val="4B84F5">
                    <a:tint val="44500"/>
                    <a:satMod val="160000"/>
                  </a:srgbClr>
                </a:gs>
                <a:gs pos="100000">
                  <a:srgbClr val="4B84F5">
                    <a:tint val="23500"/>
                    <a:satMod val="160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6522FFC8-93E7-CE6C-F7A3-FEC49EE69D35}"/>
                </a:ext>
              </a:extLst>
            </p:cNvPr>
            <p:cNvSpPr txBox="1"/>
            <p:nvPr/>
          </p:nvSpPr>
          <p:spPr>
            <a:xfrm>
              <a:off x="2873829" y="1214711"/>
              <a:ext cx="2482348" cy="666977"/>
            </a:xfrm>
            <a:prstGeom prst="rect">
              <a:avLst/>
            </a:prstGeom>
            <a:noFill/>
          </p:spPr>
          <p:txBody>
            <a:bodyPr wrap="square" rtlCol="0">
              <a:spAutoFit/>
            </a:bodyPr>
            <a:lstStyle/>
            <a:p>
              <a:r>
                <a:rPr lang="en-IN" dirty="0"/>
                <a:t>    </a:t>
              </a:r>
              <a:r>
                <a:rPr lang="en-IN" b="1" dirty="0"/>
                <a:t>Validation</a:t>
              </a:r>
            </a:p>
            <a:p>
              <a:endParaRPr lang="en-IN" dirty="0"/>
            </a:p>
          </p:txBody>
        </p:sp>
      </p:grpSp>
      <p:grpSp>
        <p:nvGrpSpPr>
          <p:cNvPr id="34" name="Group 33">
            <a:extLst>
              <a:ext uri="{FF2B5EF4-FFF2-40B4-BE49-F238E27FC236}">
                <a16:creationId xmlns:a16="http://schemas.microsoft.com/office/drawing/2014/main" id="{88CBED84-DD7A-89B4-B558-2AC3E26509FA}"/>
              </a:ext>
            </a:extLst>
          </p:cNvPr>
          <p:cNvGrpSpPr/>
          <p:nvPr/>
        </p:nvGrpSpPr>
        <p:grpSpPr>
          <a:xfrm>
            <a:off x="1433128" y="2314694"/>
            <a:ext cx="2744317" cy="716324"/>
            <a:chOff x="2696953" y="1163505"/>
            <a:chExt cx="2744317" cy="716324"/>
          </a:xfrm>
        </p:grpSpPr>
        <p:sp>
          <p:nvSpPr>
            <p:cNvPr id="35" name="Rectangle 34">
              <a:extLst>
                <a:ext uri="{FF2B5EF4-FFF2-40B4-BE49-F238E27FC236}">
                  <a16:creationId xmlns:a16="http://schemas.microsoft.com/office/drawing/2014/main" id="{2772FBD5-96E2-D5B2-C4CC-D8DA0855DCC5}"/>
                </a:ext>
              </a:extLst>
            </p:cNvPr>
            <p:cNvSpPr/>
            <p:nvPr/>
          </p:nvSpPr>
          <p:spPr>
            <a:xfrm>
              <a:off x="2696953" y="1163505"/>
              <a:ext cx="2244017" cy="560828"/>
            </a:xfrm>
            <a:prstGeom prst="rect">
              <a:avLst/>
            </a:prstGeom>
            <a:gradFill flip="none" rotWithShape="1">
              <a:gsLst>
                <a:gs pos="0">
                  <a:srgbClr val="4B84F5">
                    <a:tint val="66000"/>
                    <a:satMod val="160000"/>
                  </a:srgbClr>
                </a:gs>
                <a:gs pos="50000">
                  <a:srgbClr val="4B84F5">
                    <a:tint val="44500"/>
                    <a:satMod val="160000"/>
                  </a:srgbClr>
                </a:gs>
                <a:gs pos="100000">
                  <a:srgbClr val="4B84F5">
                    <a:tint val="23500"/>
                    <a:satMod val="160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7709FE84-D47C-5011-54DD-0473D6894352}"/>
                </a:ext>
              </a:extLst>
            </p:cNvPr>
            <p:cNvSpPr txBox="1"/>
            <p:nvPr/>
          </p:nvSpPr>
          <p:spPr>
            <a:xfrm>
              <a:off x="2779137" y="1253952"/>
              <a:ext cx="2662133" cy="625877"/>
            </a:xfrm>
            <a:prstGeom prst="rect">
              <a:avLst/>
            </a:prstGeom>
            <a:noFill/>
          </p:spPr>
          <p:txBody>
            <a:bodyPr wrap="square" rtlCol="0">
              <a:spAutoFit/>
            </a:bodyPr>
            <a:lstStyle/>
            <a:p>
              <a:r>
                <a:rPr lang="en-IN" sz="1600" b="1" dirty="0"/>
                <a:t>Data Preprocessing</a:t>
              </a:r>
            </a:p>
            <a:p>
              <a:endParaRPr lang="en-IN" dirty="0"/>
            </a:p>
          </p:txBody>
        </p:sp>
      </p:grpSp>
      <p:sp>
        <p:nvSpPr>
          <p:cNvPr id="37" name="TextBox 36">
            <a:extLst>
              <a:ext uri="{FF2B5EF4-FFF2-40B4-BE49-F238E27FC236}">
                <a16:creationId xmlns:a16="http://schemas.microsoft.com/office/drawing/2014/main" id="{A335E67B-CEB6-BA53-DEBE-2E491402ECAE}"/>
              </a:ext>
            </a:extLst>
          </p:cNvPr>
          <p:cNvSpPr txBox="1"/>
          <p:nvPr/>
        </p:nvSpPr>
        <p:spPr>
          <a:xfrm>
            <a:off x="3915360" y="1572152"/>
            <a:ext cx="7682678" cy="7808741"/>
          </a:xfrm>
          <a:prstGeom prst="rect">
            <a:avLst/>
          </a:prstGeom>
          <a:noFill/>
        </p:spPr>
        <p:txBody>
          <a:bodyPr wrap="square" rtlCol="0">
            <a:spAutoFit/>
          </a:bodyPr>
          <a:lstStyle/>
          <a:p>
            <a:pPr marL="457200" indent="-457200">
              <a:buFont typeface="Wingdings" panose="05000000000000000000" pitchFamily="2" charset="2"/>
              <a:buChar char="Ø"/>
            </a:pPr>
            <a:r>
              <a:rPr lang="en-IN" b="1" dirty="0"/>
              <a:t>Source</a:t>
            </a:r>
            <a:r>
              <a:rPr lang="en-IN" dirty="0"/>
              <a:t>: Kaggle</a:t>
            </a:r>
          </a:p>
          <a:p>
            <a:pPr marL="457200" indent="-457200">
              <a:buFont typeface="Wingdings" panose="05000000000000000000" pitchFamily="2" charset="2"/>
              <a:buChar char="Ø"/>
            </a:pPr>
            <a:endParaRPr lang="en-IN" dirty="0"/>
          </a:p>
          <a:p>
            <a:pPr marL="457200" indent="-457200">
              <a:buFont typeface="Wingdings" panose="05000000000000000000" pitchFamily="2" charset="2"/>
              <a:buChar char="Ø"/>
            </a:pPr>
            <a:endParaRPr lang="en-IN" dirty="0"/>
          </a:p>
          <a:p>
            <a:pPr marL="457200" indent="-457200">
              <a:buFont typeface="Wingdings" panose="05000000000000000000" pitchFamily="2" charset="2"/>
              <a:buChar char="Ø"/>
            </a:pPr>
            <a:r>
              <a:rPr lang="en-IN" b="1" dirty="0"/>
              <a:t>Steps</a:t>
            </a:r>
            <a:r>
              <a:rPr lang="en-IN" dirty="0"/>
              <a:t>: Rescalling, Resizing, and Normalization Pixel Values</a:t>
            </a:r>
          </a:p>
          <a:p>
            <a:endParaRPr lang="en-IN" dirty="0"/>
          </a:p>
          <a:p>
            <a:pPr marL="457200" indent="-457200">
              <a:buFont typeface="Wingdings" panose="05000000000000000000" pitchFamily="2" charset="2"/>
              <a:buChar char="Ø"/>
            </a:pPr>
            <a:r>
              <a:rPr lang="en-IN" sz="1800" b="1" dirty="0"/>
              <a:t>Architecture</a:t>
            </a:r>
            <a:r>
              <a:rPr lang="en-IN" sz="1800" dirty="0"/>
              <a:t>: Convolutional Neural Network(CNN)</a:t>
            </a:r>
          </a:p>
          <a:p>
            <a:r>
              <a:rPr lang="en-IN" sz="1800" dirty="0"/>
              <a:t>       </a:t>
            </a:r>
            <a:r>
              <a:rPr lang="en-IN" sz="1800" b="1" dirty="0"/>
              <a:t>Layers</a:t>
            </a:r>
            <a:r>
              <a:rPr lang="en-IN" sz="1800" dirty="0"/>
              <a:t>: 3 Convolutional Layers’</a:t>
            </a:r>
          </a:p>
          <a:p>
            <a:r>
              <a:rPr lang="en-IN" sz="1800" dirty="0"/>
              <a:t>       </a:t>
            </a:r>
            <a:r>
              <a:rPr lang="en-IN" sz="1800" b="1" dirty="0"/>
              <a:t>Final Layer</a:t>
            </a:r>
            <a:r>
              <a:rPr lang="en-IN" sz="1800" dirty="0"/>
              <a:t>: Dense Layer with 1 Output Node(Binary)</a:t>
            </a:r>
          </a:p>
          <a:p>
            <a:pPr marL="342900" indent="-342900">
              <a:buFont typeface="Wingdings" panose="05000000000000000000" pitchFamily="2" charset="2"/>
              <a:buChar char="Ø"/>
            </a:pPr>
            <a:endParaRPr lang="en-IN" sz="1800" dirty="0"/>
          </a:p>
          <a:p>
            <a:pPr marL="342900" indent="-342900">
              <a:buFont typeface="Wingdings" panose="05000000000000000000" pitchFamily="2" charset="2"/>
              <a:buChar char="Ø"/>
            </a:pPr>
            <a:r>
              <a:rPr lang="en-IN" b="1" dirty="0"/>
              <a:t>Epochs</a:t>
            </a:r>
            <a:r>
              <a:rPr lang="en-IN" dirty="0"/>
              <a:t>: 12</a:t>
            </a:r>
          </a:p>
          <a:p>
            <a:r>
              <a:rPr lang="en-IN" dirty="0"/>
              <a:t>     </a:t>
            </a:r>
            <a:r>
              <a:rPr lang="en-IN" b="1" dirty="0"/>
              <a:t>Loss Function</a:t>
            </a:r>
            <a:r>
              <a:rPr lang="en-IN" dirty="0"/>
              <a:t>: Binary Crossentropy</a:t>
            </a:r>
          </a:p>
          <a:p>
            <a:r>
              <a:rPr lang="en-IN" dirty="0"/>
              <a:t>     Regularization Techniques Applied</a:t>
            </a:r>
          </a:p>
          <a:p>
            <a:endParaRPr lang="en-IN" dirty="0"/>
          </a:p>
          <a:p>
            <a:pPr marL="342900" indent="-342900">
              <a:buFont typeface="Wingdings" panose="05000000000000000000" pitchFamily="2" charset="2"/>
              <a:buChar char="Ø"/>
            </a:pPr>
            <a:r>
              <a:rPr lang="en-IN" b="1" dirty="0"/>
              <a:t>Metric</a:t>
            </a:r>
            <a:r>
              <a:rPr lang="en-IN" dirty="0"/>
              <a:t>: Accuracy</a:t>
            </a:r>
          </a:p>
          <a:p>
            <a:r>
              <a:rPr lang="en-IN" dirty="0"/>
              <a:t>     </a:t>
            </a:r>
            <a:r>
              <a:rPr lang="en-IN" b="1" dirty="0"/>
              <a:t>Test Accuracy Achieved</a:t>
            </a:r>
            <a:r>
              <a:rPr lang="en-IN" dirty="0"/>
              <a:t>: 80.99%</a:t>
            </a:r>
          </a:p>
          <a:p>
            <a:pPr marL="342900" indent="-342900">
              <a:buFont typeface="Wingdings" panose="05000000000000000000" pitchFamily="2" charset="2"/>
              <a:buChar char="Ø"/>
            </a:pPr>
            <a:endParaRPr lang="en-IN" dirty="0"/>
          </a:p>
          <a:p>
            <a:pPr marL="342900" indent="-342900">
              <a:buFont typeface="Wingdings" panose="05000000000000000000" pitchFamily="2" charset="2"/>
              <a:buChar char="Ø"/>
            </a:pPr>
            <a:r>
              <a:rPr lang="en-IN" sz="1800" dirty="0"/>
              <a:t>Validation was conducted to ensure model generalization on unseen data.</a:t>
            </a:r>
          </a:p>
          <a:p>
            <a:endParaRPr lang="en-IN" dirty="0"/>
          </a:p>
          <a:p>
            <a:pPr marL="342900" indent="-342900">
              <a:buFont typeface="Wingdings" panose="05000000000000000000" pitchFamily="2" charset="2"/>
              <a:buChar char="Ø"/>
            </a:pPr>
            <a:endParaRPr lang="en-IN" dirty="0"/>
          </a:p>
          <a:p>
            <a:pPr marL="342900" indent="-342900">
              <a:buFont typeface="Wingdings" panose="05000000000000000000" pitchFamily="2" charset="2"/>
              <a:buChar char="Ø"/>
            </a:pPr>
            <a:endParaRPr lang="en-IN" dirty="0"/>
          </a:p>
          <a:p>
            <a:r>
              <a:rPr lang="en-IN" dirty="0"/>
              <a:t>     </a:t>
            </a:r>
          </a:p>
          <a:p>
            <a:r>
              <a:rPr lang="en-IN" dirty="0"/>
              <a:t>      </a:t>
            </a:r>
          </a:p>
          <a:p>
            <a:pPr marL="457200" indent="-457200">
              <a:buFont typeface="Wingdings" panose="05000000000000000000" pitchFamily="2" charset="2"/>
              <a:buChar char="Ø"/>
            </a:pPr>
            <a:endParaRPr lang="en-IN" dirty="0"/>
          </a:p>
          <a:p>
            <a:pPr marL="457200" indent="-457200">
              <a:buFont typeface="Wingdings" panose="05000000000000000000" pitchFamily="2" charset="2"/>
              <a:buChar char="Ø"/>
            </a:pPr>
            <a:endParaRPr lang="en-IN" dirty="0"/>
          </a:p>
          <a:p>
            <a:pPr marL="457200" indent="-457200">
              <a:buFont typeface="Wingdings" panose="05000000000000000000" pitchFamily="2" charset="2"/>
              <a:buChar char="Ø"/>
            </a:pPr>
            <a:endParaRPr lang="en-US" dirty="0"/>
          </a:p>
          <a:p>
            <a:pPr marL="457200" indent="-457200">
              <a:buFont typeface="Wingdings" panose="05000000000000000000" pitchFamily="2" charset="2"/>
              <a:buChar char="Ø"/>
            </a:pPr>
            <a:endParaRPr lang="en-US" dirty="0"/>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4" name="TextBox 3">
            <a:extLst>
              <a:ext uri="{FF2B5EF4-FFF2-40B4-BE49-F238E27FC236}">
                <a16:creationId xmlns:a16="http://schemas.microsoft.com/office/drawing/2014/main" id="{A5979069-ADD4-2FE2-2A44-702DCBCEEFA5}"/>
              </a:ext>
            </a:extLst>
          </p:cNvPr>
          <p:cNvSpPr txBox="1"/>
          <p:nvPr/>
        </p:nvSpPr>
        <p:spPr>
          <a:xfrm>
            <a:off x="255104" y="1688841"/>
            <a:ext cx="7256039" cy="3416320"/>
          </a:xfrm>
          <a:prstGeom prst="rect">
            <a:avLst/>
          </a:prstGeom>
          <a:noFill/>
        </p:spPr>
        <p:txBody>
          <a:bodyPr wrap="square" rtlCol="0" anchor="ctr">
            <a:spAutoFit/>
          </a:bodyPr>
          <a:lstStyle/>
          <a:p>
            <a:pPr algn="just">
              <a:buNone/>
            </a:pPr>
            <a:r>
              <a:rPr lang="en-US" sz="1800" dirty="0"/>
              <a:t>Forest fires cause significant environmental degradation and economic damage by destroying natural resources, threatening wildlife habitats, and endangering human lives. Traditional methods of fire detection often rely on manual monitoring, which can be slow, inefficient, and prone to delays. To overcome these limitations, this project proposes an automated solution using Deep Learning techniques, specifically Convolutional Neural Networks (CNNs), to accurately identify and classify images as either "Fire" or "No Fire." The aim is to develop a real-time, scalable, and reliable system that can detect forest fires at an early stage using satellite or camera images, thereby enabling quicker response times and minimizing potential damage.</a:t>
            </a:r>
            <a:endParaRPr lang="en-IN" sz="1800" dirty="0"/>
          </a:p>
        </p:txBody>
      </p:sp>
      <p:pic>
        <p:nvPicPr>
          <p:cNvPr id="20" name="Picture 19">
            <a:extLst>
              <a:ext uri="{FF2B5EF4-FFF2-40B4-BE49-F238E27FC236}">
                <a16:creationId xmlns:a16="http://schemas.microsoft.com/office/drawing/2014/main" id="{BFA4A570-B2FE-4B00-CC3F-237E66A94D2E}"/>
              </a:ext>
            </a:extLst>
          </p:cNvPr>
          <p:cNvPicPr>
            <a:picLocks noChangeAspect="1"/>
          </p:cNvPicPr>
          <p:nvPr/>
        </p:nvPicPr>
        <p:blipFill>
          <a:blip r:embed="rId2"/>
          <a:stretch>
            <a:fillRect/>
          </a:stretch>
        </p:blipFill>
        <p:spPr>
          <a:xfrm>
            <a:off x="7847045" y="2192694"/>
            <a:ext cx="3688119" cy="3499562"/>
          </a:xfrm>
          <a:prstGeom prst="rect">
            <a:avLst/>
          </a:prstGeom>
        </p:spPr>
      </p:pic>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a:extLst>
              <a:ext uri="{FF2B5EF4-FFF2-40B4-BE49-F238E27FC236}">
                <a16:creationId xmlns:a16="http://schemas.microsoft.com/office/drawing/2014/main" id="{E5FF5E39-FAA6-FF98-5084-49F879329DEB}"/>
              </a:ext>
            </a:extLst>
          </p:cNvPr>
          <p:cNvSpPr txBox="1"/>
          <p:nvPr/>
        </p:nvSpPr>
        <p:spPr>
          <a:xfrm>
            <a:off x="475860" y="1454522"/>
            <a:ext cx="9890450" cy="4114844"/>
          </a:xfrm>
          <a:prstGeom prst="rect">
            <a:avLst/>
          </a:prstGeom>
          <a:noFill/>
        </p:spPr>
        <p:txBody>
          <a:bodyPr wrap="square" rtlCol="0">
            <a:spAutoFit/>
          </a:bodyPr>
          <a:lstStyle/>
          <a:p>
            <a:pPr marL="342900" indent="-342900">
              <a:buFont typeface="Arial" panose="020B0604020202020204" pitchFamily="34" charset="0"/>
              <a:buChar char="•"/>
            </a:pPr>
            <a:r>
              <a:rPr lang="en-US" b="1" dirty="0"/>
              <a:t>Deep Learning Model</a:t>
            </a:r>
            <a:r>
              <a:rPr lang="en-US" dirty="0"/>
              <a:t> trained to accurately </a:t>
            </a:r>
            <a:r>
              <a:rPr lang="en-US" b="1" dirty="0"/>
              <a:t>detect and classify fire/smoke</a:t>
            </a:r>
            <a:r>
              <a:rPr lang="en-US" dirty="0"/>
              <a:t> in real-time.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Achieved </a:t>
            </a:r>
            <a:r>
              <a:rPr lang="en-US" b="1" dirty="0"/>
              <a:t>80%+ accuracy</a:t>
            </a:r>
            <a:r>
              <a:rPr lang="en-US" dirty="0"/>
              <a:t> on diverse test data, showing strong </a:t>
            </a:r>
            <a:r>
              <a:rPr lang="en-US" b="1" dirty="0"/>
              <a:t>generalization</a:t>
            </a:r>
            <a:r>
              <a:rPr lang="en-US" dirty="0"/>
              <a:t> across regions.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Enables </a:t>
            </a:r>
            <a:r>
              <a:rPr lang="en-US" b="1" dirty="0"/>
              <a:t>real-time alert system</a:t>
            </a:r>
            <a:r>
              <a:rPr lang="en-US" dirty="0"/>
              <a:t>, critical for </a:t>
            </a:r>
            <a:r>
              <a:rPr lang="en-US" b="1" dirty="0"/>
              <a:t>early fire detection and quick response</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dirty="0"/>
              <a:t>Deployed model can be integrated with </a:t>
            </a:r>
            <a:r>
              <a:rPr lang="en-US" b="1" dirty="0"/>
              <a:t>CCTV, drones, or satellite feeds</a:t>
            </a:r>
            <a:r>
              <a:rPr lang="en-US" dirty="0"/>
              <a:t> for continuous monitoring.</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dirty="0"/>
              <a:t>Scalable and lightweight </a:t>
            </a:r>
            <a:r>
              <a:rPr lang="en-US" b="1" dirty="0"/>
              <a:t>can run on edge devices</a:t>
            </a:r>
            <a:r>
              <a:rPr lang="en-US" dirty="0"/>
              <a:t> for remote forest areas.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Potential to </a:t>
            </a:r>
            <a:r>
              <a:rPr lang="en-US" b="1" dirty="0"/>
              <a:t>save lives, wildlife, and resources</a:t>
            </a:r>
            <a:r>
              <a:rPr lang="en-US" dirty="0"/>
              <a:t> by minimizing fire spread through early action.</a:t>
            </a:r>
            <a:endParaRPr lang="en-IN" dirty="0"/>
          </a:p>
        </p:txBody>
      </p:sp>
      <p:sp>
        <p:nvSpPr>
          <p:cNvPr id="4" name="TextBox 3">
            <a:extLst>
              <a:ext uri="{FF2B5EF4-FFF2-40B4-BE49-F238E27FC236}">
                <a16:creationId xmlns:a16="http://schemas.microsoft.com/office/drawing/2014/main" id="{ED06FC1B-B989-1F3E-30A3-46F113964130}"/>
              </a:ext>
            </a:extLst>
          </p:cNvPr>
          <p:cNvSpPr txBox="1"/>
          <p:nvPr/>
        </p:nvSpPr>
        <p:spPr>
          <a:xfrm>
            <a:off x="475860" y="5877276"/>
            <a:ext cx="9349275" cy="595099"/>
          </a:xfrm>
          <a:prstGeom prst="rect">
            <a:avLst/>
          </a:prstGeom>
          <a:noFill/>
        </p:spPr>
        <p:txBody>
          <a:bodyPr wrap="square" rtlCol="0">
            <a:spAutoFit/>
          </a:bodyPr>
          <a:lstStyle/>
          <a:p>
            <a:r>
              <a:rPr lang="en-IN" b="1" dirty="0">
                <a:solidFill>
                  <a:schemeClr val="tx1"/>
                </a:solidFill>
              </a:rPr>
              <a:t>Source code </a:t>
            </a:r>
            <a:r>
              <a:rPr lang="en-IN" dirty="0"/>
              <a:t>: </a:t>
            </a:r>
            <a:r>
              <a:rPr lang="en-US" sz="1400" dirty="0">
                <a:solidFill>
                  <a:schemeClr val="accent3">
                    <a:lumMod val="50000"/>
                  </a:schemeClr>
                </a:solidFill>
                <a:hlinkClick r:id="rId2">
                  <a:extLst>
                    <a:ext uri="{A12FA001-AC4F-418D-AE19-62706E023703}">
                      <ahyp:hlinkClr xmlns:ahyp="http://schemas.microsoft.com/office/drawing/2018/hyperlinkcolor" val="tx"/>
                    </a:ext>
                  </a:extLst>
                </a:hlinkClick>
              </a:rPr>
              <a:t>ForestFireDitection_Using_DeepLearning/Forest_Fire_Detection_using_DL (2).ipynb at main · IAmHemalathaYadav/ForestFireDitection_Using_DeepLearning</a:t>
            </a:r>
            <a:endParaRPr lang="en-IN" sz="1400" dirty="0">
              <a:solidFill>
                <a:schemeClr val="accent3">
                  <a:lumMod val="50000"/>
                </a:schemeClr>
              </a:solidFill>
            </a:endParaRP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B0D5B-0C25-8432-F090-1E79F3F6C4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DA29A5-BE4F-74BC-3F4F-DF33C1701933}"/>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26DDCC3F-190B-5296-E969-5F6FACDAF03C}"/>
              </a:ext>
            </a:extLst>
          </p:cNvPr>
          <p:cNvSpPr txBox="1"/>
          <p:nvPr/>
        </p:nvSpPr>
        <p:spPr>
          <a:xfrm>
            <a:off x="373224" y="1454522"/>
            <a:ext cx="4096139" cy="379656"/>
          </a:xfrm>
          <a:prstGeom prst="rect">
            <a:avLst/>
          </a:prstGeom>
          <a:noFill/>
        </p:spPr>
        <p:txBody>
          <a:bodyPr wrap="square" rtlCol="0">
            <a:spAutoFit/>
          </a:bodyPr>
          <a:lstStyle/>
          <a:p>
            <a:r>
              <a:rPr lang="en-IN" b="1" dirty="0"/>
              <a:t>CNN Model Architecture</a:t>
            </a:r>
          </a:p>
        </p:txBody>
      </p:sp>
      <p:pic>
        <p:nvPicPr>
          <p:cNvPr id="6" name="Picture 5">
            <a:extLst>
              <a:ext uri="{FF2B5EF4-FFF2-40B4-BE49-F238E27FC236}">
                <a16:creationId xmlns:a16="http://schemas.microsoft.com/office/drawing/2014/main" id="{72276AA6-125B-8B76-F758-AB252BB9C6FE}"/>
              </a:ext>
            </a:extLst>
          </p:cNvPr>
          <p:cNvPicPr>
            <a:picLocks noChangeAspect="1"/>
          </p:cNvPicPr>
          <p:nvPr/>
        </p:nvPicPr>
        <p:blipFill>
          <a:blip r:embed="rId2"/>
          <a:srcRect r="31798"/>
          <a:stretch/>
        </p:blipFill>
        <p:spPr>
          <a:xfrm>
            <a:off x="447871" y="1854632"/>
            <a:ext cx="10086390" cy="4695458"/>
          </a:xfrm>
          <a:prstGeom prst="rect">
            <a:avLst/>
          </a:prstGeom>
        </p:spPr>
      </p:pic>
    </p:spTree>
    <p:extLst>
      <p:ext uri="{BB962C8B-B14F-4D97-AF65-F5344CB8AC3E}">
        <p14:creationId xmlns:p14="http://schemas.microsoft.com/office/powerpoint/2010/main" val="12130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FB1C1A36-321C-241C-0F12-701155735984}"/>
              </a:ext>
            </a:extLst>
          </p:cNvPr>
          <p:cNvSpPr txBox="1"/>
          <p:nvPr/>
        </p:nvSpPr>
        <p:spPr>
          <a:xfrm>
            <a:off x="345233" y="1454522"/>
            <a:ext cx="3825551" cy="379656"/>
          </a:xfrm>
          <a:prstGeom prst="rect">
            <a:avLst/>
          </a:prstGeom>
          <a:noFill/>
        </p:spPr>
        <p:txBody>
          <a:bodyPr wrap="square" rtlCol="0">
            <a:spAutoFit/>
          </a:bodyPr>
          <a:lstStyle/>
          <a:p>
            <a:r>
              <a:rPr lang="en-US" b="1" dirty="0"/>
              <a:t>Code Execution</a:t>
            </a:r>
            <a:endParaRPr lang="en-IN" b="1" dirty="0"/>
          </a:p>
        </p:txBody>
      </p:sp>
      <p:pic>
        <p:nvPicPr>
          <p:cNvPr id="5" name="Picture 4">
            <a:extLst>
              <a:ext uri="{FF2B5EF4-FFF2-40B4-BE49-F238E27FC236}">
                <a16:creationId xmlns:a16="http://schemas.microsoft.com/office/drawing/2014/main" id="{A1201476-1BEB-EB5B-ED91-F9A43CDE3CE6}"/>
              </a:ext>
            </a:extLst>
          </p:cNvPr>
          <p:cNvPicPr>
            <a:picLocks noChangeAspect="1"/>
          </p:cNvPicPr>
          <p:nvPr/>
        </p:nvPicPr>
        <p:blipFill>
          <a:blip r:embed="rId2"/>
          <a:stretch>
            <a:fillRect/>
          </a:stretch>
        </p:blipFill>
        <p:spPr>
          <a:xfrm>
            <a:off x="457199" y="1854632"/>
            <a:ext cx="11196736" cy="4844748"/>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93FCC-7597-5617-0681-A8C77FEAE3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DCB70C-F638-E703-5DB7-4F17EC0F6EEC}"/>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A19D3A60-F7FE-D9F3-D721-2CD0640AB500}"/>
              </a:ext>
            </a:extLst>
          </p:cNvPr>
          <p:cNvSpPr txBox="1"/>
          <p:nvPr/>
        </p:nvSpPr>
        <p:spPr>
          <a:xfrm>
            <a:off x="410547" y="1454522"/>
            <a:ext cx="3125755" cy="379656"/>
          </a:xfrm>
          <a:prstGeom prst="rect">
            <a:avLst/>
          </a:prstGeom>
          <a:noFill/>
        </p:spPr>
        <p:txBody>
          <a:bodyPr wrap="square" rtlCol="0">
            <a:spAutoFit/>
          </a:bodyPr>
          <a:lstStyle/>
          <a:p>
            <a:r>
              <a:rPr lang="en-US" b="1" dirty="0"/>
              <a:t>Training Progress</a:t>
            </a:r>
            <a:endParaRPr lang="en-IN" b="1" dirty="0"/>
          </a:p>
        </p:txBody>
      </p:sp>
      <p:pic>
        <p:nvPicPr>
          <p:cNvPr id="4" name="Picture 7">
            <a:extLst>
              <a:ext uri="{FF2B5EF4-FFF2-40B4-BE49-F238E27FC236}">
                <a16:creationId xmlns:a16="http://schemas.microsoft.com/office/drawing/2014/main" id="{9B294A9A-6710-57C3-8089-0532A1B5D6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547" y="1834178"/>
            <a:ext cx="10908345" cy="2383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9">
            <a:extLst>
              <a:ext uri="{FF2B5EF4-FFF2-40B4-BE49-F238E27FC236}">
                <a16:creationId xmlns:a16="http://schemas.microsoft.com/office/drawing/2014/main" id="{33A545B1-F621-D267-714A-28986CFE35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952" y="4217437"/>
            <a:ext cx="10574150" cy="2531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9944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70C5A-4278-1446-39BB-06F73DAABF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1929FD-16E1-20C8-3575-0AC75FE8BE02}"/>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4C0338D1-B26B-9F09-5B14-52754EFAD7FD}"/>
              </a:ext>
            </a:extLst>
          </p:cNvPr>
          <p:cNvPicPr>
            <a:picLocks noChangeAspect="1"/>
          </p:cNvPicPr>
          <p:nvPr/>
        </p:nvPicPr>
        <p:blipFill>
          <a:blip r:embed="rId2"/>
          <a:srcRect t="29449" r="9040" b="1059"/>
          <a:stretch/>
        </p:blipFill>
        <p:spPr>
          <a:xfrm>
            <a:off x="572643" y="2080609"/>
            <a:ext cx="5186983" cy="4459098"/>
          </a:xfrm>
          <a:prstGeom prst="rect">
            <a:avLst/>
          </a:prstGeom>
        </p:spPr>
      </p:pic>
      <p:pic>
        <p:nvPicPr>
          <p:cNvPr id="6" name="Picture 5">
            <a:extLst>
              <a:ext uri="{FF2B5EF4-FFF2-40B4-BE49-F238E27FC236}">
                <a16:creationId xmlns:a16="http://schemas.microsoft.com/office/drawing/2014/main" id="{655438EB-9ACF-9D33-F501-FB0ADA4324A2}"/>
              </a:ext>
            </a:extLst>
          </p:cNvPr>
          <p:cNvPicPr>
            <a:picLocks noChangeAspect="1"/>
          </p:cNvPicPr>
          <p:nvPr/>
        </p:nvPicPr>
        <p:blipFill>
          <a:blip r:embed="rId3"/>
          <a:srcRect l="2070" t="2415" r="11355" b="5027"/>
          <a:stretch/>
        </p:blipFill>
        <p:spPr>
          <a:xfrm>
            <a:off x="6357730" y="2080609"/>
            <a:ext cx="5576123" cy="4404047"/>
          </a:xfrm>
          <a:prstGeom prst="rect">
            <a:avLst/>
          </a:prstGeom>
        </p:spPr>
      </p:pic>
      <p:sp>
        <p:nvSpPr>
          <p:cNvPr id="7" name="TextBox 6">
            <a:extLst>
              <a:ext uri="{FF2B5EF4-FFF2-40B4-BE49-F238E27FC236}">
                <a16:creationId xmlns:a16="http://schemas.microsoft.com/office/drawing/2014/main" id="{DE29AC5D-734A-0B73-814C-ED75ACC9B341}"/>
              </a:ext>
            </a:extLst>
          </p:cNvPr>
          <p:cNvSpPr txBox="1"/>
          <p:nvPr/>
        </p:nvSpPr>
        <p:spPr>
          <a:xfrm>
            <a:off x="410547" y="1454522"/>
            <a:ext cx="4245429" cy="379656"/>
          </a:xfrm>
          <a:prstGeom prst="rect">
            <a:avLst/>
          </a:prstGeom>
          <a:noFill/>
        </p:spPr>
        <p:txBody>
          <a:bodyPr wrap="square" rtlCol="0">
            <a:spAutoFit/>
          </a:bodyPr>
          <a:lstStyle/>
          <a:p>
            <a:r>
              <a:rPr lang="en-US" b="1" dirty="0"/>
              <a:t>Model Accuracy &amp; Model Loss</a:t>
            </a:r>
            <a:endParaRPr lang="en-IN" b="1" dirty="0"/>
          </a:p>
        </p:txBody>
      </p:sp>
    </p:spTree>
    <p:extLst>
      <p:ext uri="{BB962C8B-B14F-4D97-AF65-F5344CB8AC3E}">
        <p14:creationId xmlns:p14="http://schemas.microsoft.com/office/powerpoint/2010/main" val="1412458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E2E-B88F-21BF-0BAD-E038AC02D2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991B83-3C3C-F23F-232B-C4DE3A83A889}"/>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7548C9F1-1B9F-9E36-8BF3-C95278F0F097}"/>
              </a:ext>
            </a:extLst>
          </p:cNvPr>
          <p:cNvSpPr txBox="1"/>
          <p:nvPr/>
        </p:nvSpPr>
        <p:spPr>
          <a:xfrm>
            <a:off x="410547" y="1454522"/>
            <a:ext cx="3125755" cy="379656"/>
          </a:xfrm>
          <a:prstGeom prst="rect">
            <a:avLst/>
          </a:prstGeom>
          <a:noFill/>
        </p:spPr>
        <p:txBody>
          <a:bodyPr wrap="square" rtlCol="0">
            <a:spAutoFit/>
          </a:bodyPr>
          <a:lstStyle/>
          <a:p>
            <a:r>
              <a:rPr lang="en-IN" b="1" dirty="0"/>
              <a:t>Prediction Output</a:t>
            </a:r>
            <a:r>
              <a:rPr lang="en-IN" dirty="0"/>
              <a:t> </a:t>
            </a:r>
            <a:endParaRPr lang="en-IN" b="1" dirty="0"/>
          </a:p>
        </p:txBody>
      </p:sp>
      <p:pic>
        <p:nvPicPr>
          <p:cNvPr id="5" name="Picture 4">
            <a:extLst>
              <a:ext uri="{FF2B5EF4-FFF2-40B4-BE49-F238E27FC236}">
                <a16:creationId xmlns:a16="http://schemas.microsoft.com/office/drawing/2014/main" id="{BC61AC9D-7B3E-C70D-2DDE-CFC9B2959547}"/>
              </a:ext>
            </a:extLst>
          </p:cNvPr>
          <p:cNvPicPr>
            <a:picLocks noChangeAspect="1"/>
          </p:cNvPicPr>
          <p:nvPr/>
        </p:nvPicPr>
        <p:blipFill>
          <a:blip r:embed="rId2"/>
          <a:stretch>
            <a:fillRect/>
          </a:stretch>
        </p:blipFill>
        <p:spPr>
          <a:xfrm>
            <a:off x="410547" y="1996751"/>
            <a:ext cx="10963039" cy="4304437"/>
          </a:xfrm>
          <a:prstGeom prst="rect">
            <a:avLst/>
          </a:prstGeom>
        </p:spPr>
      </p:pic>
    </p:spTree>
    <p:extLst>
      <p:ext uri="{BB962C8B-B14F-4D97-AF65-F5344CB8AC3E}">
        <p14:creationId xmlns:p14="http://schemas.microsoft.com/office/powerpoint/2010/main" val="259914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0F725-7C04-0CD2-0D00-328193D6A6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5D208D-D8B4-5DF7-8070-13B6AB5EEDCA}"/>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2" name="TextBox 1">
            <a:extLst>
              <a:ext uri="{FF2B5EF4-FFF2-40B4-BE49-F238E27FC236}">
                <a16:creationId xmlns:a16="http://schemas.microsoft.com/office/drawing/2014/main" id="{4E9B0E60-53C7-D950-3AD1-2E3AA07F9AD0}"/>
              </a:ext>
            </a:extLst>
          </p:cNvPr>
          <p:cNvSpPr txBox="1"/>
          <p:nvPr/>
        </p:nvSpPr>
        <p:spPr>
          <a:xfrm>
            <a:off x="410547" y="1454522"/>
            <a:ext cx="3125755" cy="379656"/>
          </a:xfrm>
          <a:prstGeom prst="rect">
            <a:avLst/>
          </a:prstGeom>
          <a:noFill/>
        </p:spPr>
        <p:txBody>
          <a:bodyPr wrap="square" rtlCol="0">
            <a:spAutoFit/>
          </a:bodyPr>
          <a:lstStyle/>
          <a:p>
            <a:r>
              <a:rPr lang="en-IN" b="1" dirty="0"/>
              <a:t>Prediction Output</a:t>
            </a:r>
            <a:r>
              <a:rPr lang="en-IN" dirty="0"/>
              <a:t> </a:t>
            </a:r>
            <a:endParaRPr lang="en-IN" b="1" dirty="0"/>
          </a:p>
        </p:txBody>
      </p:sp>
      <p:pic>
        <p:nvPicPr>
          <p:cNvPr id="5" name="Picture 4">
            <a:extLst>
              <a:ext uri="{FF2B5EF4-FFF2-40B4-BE49-F238E27FC236}">
                <a16:creationId xmlns:a16="http://schemas.microsoft.com/office/drawing/2014/main" id="{90795542-2009-4D3E-2847-E37EF5B9C6E7}"/>
              </a:ext>
            </a:extLst>
          </p:cNvPr>
          <p:cNvPicPr>
            <a:picLocks noChangeAspect="1"/>
          </p:cNvPicPr>
          <p:nvPr/>
        </p:nvPicPr>
        <p:blipFill>
          <a:blip r:embed="rId2"/>
          <a:stretch>
            <a:fillRect/>
          </a:stretch>
        </p:blipFill>
        <p:spPr>
          <a:xfrm>
            <a:off x="410547" y="1854632"/>
            <a:ext cx="11401250" cy="4313187"/>
          </a:xfrm>
          <a:prstGeom prst="rect">
            <a:avLst/>
          </a:prstGeom>
        </p:spPr>
      </p:pic>
    </p:spTree>
    <p:extLst>
      <p:ext uri="{BB962C8B-B14F-4D97-AF65-F5344CB8AC3E}">
        <p14:creationId xmlns:p14="http://schemas.microsoft.com/office/powerpoint/2010/main" val="3421515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E370B5AF-3E50-1717-2A98-3DDA777B038E}"/>
              </a:ext>
            </a:extLst>
          </p:cNvPr>
          <p:cNvSpPr txBox="1"/>
          <p:nvPr/>
        </p:nvSpPr>
        <p:spPr>
          <a:xfrm>
            <a:off x="279918" y="1388261"/>
            <a:ext cx="7744409" cy="3477875"/>
          </a:xfrm>
          <a:prstGeom prst="rect">
            <a:avLst/>
          </a:prstGeom>
          <a:noFill/>
        </p:spPr>
        <p:txBody>
          <a:bodyPr wrap="square" rtlCol="0">
            <a:spAutoFit/>
          </a:bodyPr>
          <a:lstStyle/>
          <a:p>
            <a:pPr algn="just"/>
            <a:r>
              <a:rPr lang="en-US" sz="2000" dirty="0"/>
              <a:t>In conclusion, this project demonstrates the effective use of Deep Learning, particularly Convolutional Neural Networks (CNNs), for the early detection of forest fires through image classification. By accurately identifying images as "Fire" or "No Fire," the system provides a reliable and automated alternative to manual monitoring. This not only improves detection speed but also enhances scalability and real-time responsiveness. The proposed solution holds strong potential for integration with satellite and surveillance camera systems, ultimately supporting faster emergency response, reducing environmental damage, and protecting both wildlife and human life.</a:t>
            </a:r>
            <a:endParaRPr lang="en-IN" sz="2000" dirty="0"/>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402</TotalTime>
  <Words>697</Words>
  <Application>Microsoft Office PowerPoint</Application>
  <PresentationFormat>Widescreen</PresentationFormat>
  <Paragraphs>109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Berlin Sans FB Demi</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MARTHI HEMALATHA YADAV</cp:lastModifiedBy>
  <cp:revision>7</cp:revision>
  <dcterms:created xsi:type="dcterms:W3CDTF">2024-12-31T09:40:01Z</dcterms:created>
  <dcterms:modified xsi:type="dcterms:W3CDTF">2025-05-18T01:18:49Z</dcterms:modified>
</cp:coreProperties>
</file>